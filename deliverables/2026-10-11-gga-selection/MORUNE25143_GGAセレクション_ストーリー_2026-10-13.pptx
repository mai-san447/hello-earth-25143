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【0:00】</a:t>
            </a:r>
          </a:p>
          <a:p>
            <a:r>
              <a:t>MORUNE 25143の中村です。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【0:03】</a:t>
            </a:r>
          </a:p>
          <a:p>
            <a:r>
              <a:t>今日の出場目的は、起業です。</a:t>
            </a:r>
          </a:p>
          <a:p>
            <a:r>
              <a:t>実装と検証を一緒に進める仲間を探しています。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【0:10】</a:t>
            </a:r>
          </a:p>
          <a:p>
            <a:r>
              <a:t>私は調査・研究を行うシンクタンクでマーケティングを担当し、副業では働く女性の社外メンターをしています。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【0:20】</a:t>
            </a:r>
          </a:p>
          <a:p>
            <a:r>
              <a:t>面談で最も多く聞いてきたのは、仕事と家庭の両立、つまり時間の制約に関する悩みでした。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【0:40】</a:t>
            </a:r>
          </a:p>
          <a:p>
            <a:r>
              <a:t>聞いたのは、「やりたいことがない」という声ではありません。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【0:45】</a:t>
            </a:r>
          </a:p>
          <a:p>
            <a:r>
              <a:t>「活躍したい」「学び直したい」。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【0:48】</a:t>
            </a:r>
          </a:p>
          <a:p>
            <a:r>
              <a:t>でも時間がなく、自信まで失っていく。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【0:52】</a:t>
            </a:r>
          </a:p>
          <a:p>
            <a:r>
              <a:t>MORUNE 25143は、育児や介護、療養などで願いをいったん手放した人が、急かされずに預け、自分のタイミングで受け取り直す体験です。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【1:00】</a:t>
            </a:r>
          </a:p>
          <a:p>
            <a:r>
              <a:t>「いつかやりたい」は、ToDoにすると重荷になります。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【1:05】</a:t>
            </a:r>
          </a:p>
          <a:p>
            <a:r>
              <a:t>大学院で、止まったふりかえりの再開を研究して分かったのは、必要なのは強い決意ではなく、小さなきっかけだということ。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【1:12】</a:t>
            </a:r>
          </a:p>
          <a:p>
            <a:r>
              <a:t>手がかりは小さく、仕組みは軽く、迷ったまま選べて、つながりを感じられる。</a:t>
            </a:r>
          </a:p>
          <a:p>
            <a:r>
              <a:t>この四つを体験の設計にしました。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【1:20】</a:t>
            </a:r>
          </a:p>
          <a:p>
            <a:r>
              <a:t>この体験に重ねたのが、はやぶさの帰還です。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【1:25】</a:t>
            </a:r>
          </a:p>
          <a:p>
            <a:r>
              <a:t>編集長がキャリアブレイクに入り、私が編集長代理を務めた時期に、川口淳一郎先生を取材しました。</a:t>
            </a:r>
          </a:p>
          <a:p>
            <a:r>
              <a:t>「高い塔を建てなければ、新たな水平線は見えてこない」。新しい役割へ踏み出す私を支えた言葉です。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【1:38】</a:t>
            </a:r>
          </a:p>
          <a:p>
            <a:r>
              <a:t>手放した願いを遠い星に預け、カプセルのように一つずつ帰す。これが作品のメタファーです。</a:t>
            </a:r>
          </a:p>
          <a:p>
            <a:r>
              <a:t>（間）</a:t>
            </a:r>
          </a:p>
          <a:p>
            <a:r>
              <a:t>見てください。</a:t>
            </a:r>
          </a:p>
          <a:p>
            <a:r>
              <a:t>［送る・動画を再生］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【1:45–3:47】動画 2分02秒。［ ］の時間は動画の中の時間</a:t>
            </a:r>
          </a:p>
          <a:p>
            <a:r>
              <a:t>［0:00］仕事と家のことに追われ、「ギターをもう一度」を打ち消してきた人がいます。ここは、今いる場所、今の時刻の北の空です。</a:t>
            </a:r>
          </a:p>
          <a:p>
            <a:r>
              <a:t>［0:19］願いを書くと、星が灯ります。期限も通知もありません。「今はできなくても、忘れなくていい」と、少し心が軽くなります。</a:t>
            </a:r>
          </a:p>
          <a:p>
            <a:r>
              <a:t>［0:43］余白ができた日に星へ触れると、カプセルが帰ってきます。「まだ、やってみたい」と気づく瞬間です。</a:t>
            </a:r>
          </a:p>
          <a:p>
            <a:r>
              <a:t>［0:58］受け取る、もう少し預ける、手放す。今の自分に合う距離を選べます。</a:t>
            </a:r>
          </a:p>
          <a:p>
            <a:r>
              <a:t>［1:09］受け取ると帰還票になります。書くのは「日程を調べる」など、最初の一歩だけ。</a:t>
            </a:r>
          </a:p>
          <a:p>
            <a:r>
              <a:t>［帰還票とキーホルダーまたはブレスレットを見せる］持ち帰れば、願いを日常で思い出す目印になります。</a:t>
            </a:r>
          </a:p>
          <a:p>
            <a:r>
              <a:t>［1:36］みんなの星空では、内容を見せず、ほかの人の願いを光として感じられます。「立ち止まっているのは自分だけではない」。そのつながりが次の一歩を支えます。</a:t>
            </a:r>
          </a:p>
          <a:p>
            <a:r>
              <a:t>［動画終了後に送る］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【3:47】</a:t>
            </a:r>
          </a:p>
          <a:p>
            <a:r>
              <a:t>コードはAIに書かせ、何を作るかは私が決め、数で確かめました。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【3:53】</a:t>
            </a:r>
          </a:p>
          <a:p>
            <a:r>
              <a:t>位置情報は外へ送らず、オフラインでも動きます。</a:t>
            </a:r>
          </a:p>
          <a:p>
            <a:r>
              <a:t>願いは初めは端末の中だけ。「みんなの星空に出す」と選んだものだけを送り、イトカワまでの距離も計算しています。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【4:02】</a:t>
            </a:r>
          </a:p>
          <a:p>
            <a:r>
              <a:t>入口は、展示とキャリア・復職支援の場です。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【4:06】</a:t>
            </a:r>
          </a:p>
          <a:p>
            <a:r>
              <a:t>個人利用は無料。クライアントへの導入と、イベントでの帰還票、キーホルダー、ブレスレットの物販で続けます。</a:t>
            </a:r>
          </a:p>
          <a:p>
            <a:r>
              <a:t>これらは、デジタルの願いを日常へつなぐ目印です。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【4:17】</a:t>
            </a:r>
          </a:p>
          <a:p>
            <a:r>
              <a:t>この作品を作る途中で、私も立ち止まる側になりました。</a:t>
            </a:r>
          </a:p>
          <a:p>
            <a:r>
              <a:t>（間）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【4:25】</a:t>
            </a:r>
          </a:p>
          <a:p>
            <a:r>
              <a:t>だからこれは、願いを急かさず、「もう一度」と思えた日に返す仕組みです。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【4:32】</a:t>
            </a:r>
          </a:p>
          <a:p>
            <a:r>
              <a:t>まず、展示と支援の場で検証します。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【4:36】</a:t>
            </a:r>
          </a:p>
          <a:p>
            <a:r>
              <a:t>展示の機会、検証の場、実装を共にする仲間を探しています。</a:t>
            </a:r>
          </a:p>
          <a:p>
            <a:r>
              <a:t>QRから、願いを一つ預けられます。</a:t>
            </a:r>
          </a:p>
          <a:p>
            <a:r>
              <a:t>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765" y="321565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04645" y="205603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67116" y="63964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3774" y="518120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60963" y="229953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45840" y="297554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93183" y="552853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9835" y="1918376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84860" y="280934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93070" y="158974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91656" y="259088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82047" y="5502494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21505" y="60967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82081" y="491102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12656" y="1262738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55550" y="462004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2782" y="392030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75156" y="414231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42245" y="1343902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5526" y="373631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01760" y="592510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1754" y="374411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2792" y="199207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95509" y="118297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08678" y="3587345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13734" y="442432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91440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2B867"/>
                </a:solidFill>
                <a:latin typeface="Cormorant Garamond"/>
                <a:ea typeface="Cormorant Garamond"/>
                <a:cs typeface="Cormorant Garamond"/>
              </a:rPr>
              <a:t>LEAVE YOUR WISH WITH THE STARS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46304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やりたいことを</a:t>
            </a:r>
          </a:p>
          <a:p>
            <a:pPr algn="l">
              <a:lnSpc>
                <a:spcPct val="115000"/>
              </a:lnSpc>
            </a:pPr>
            <a:r>
              <a:rPr sz="5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星に預けておく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MORUNE </a:t>
            </a:r>
            <a:r>
              <a:rPr sz="26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25143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4360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中村 舞衣子　G's ACADEMY 卒業制作</a:t>
            </a:r>
          </a:p>
        </p:txBody>
      </p:sp>
      <p:pic>
        <p:nvPicPr>
          <p:cNvPr id="32" name="Picture 31" descr="max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20040"/>
            <a:ext cx="3038302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86570" y="560713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48736" y="412238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33400" y="540049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8545" y="3442421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87691" y="623265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29124" y="359619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09972" y="133018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6078" y="251808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5311" y="495079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66741" y="6551615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75857" y="2778889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54832" y="3364167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7874" y="5352106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1120" y="489550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74814" y="628945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53856" y="609976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04577" y="476773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26809" y="335697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53572" y="672234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2475" y="5474441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75874" y="50041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36381" y="87278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78247" y="154935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02189" y="511314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42800" y="180270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45500" y="62088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出場目的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011680"/>
            <a:ext cx="1054577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60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起業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383280"/>
            <a:ext cx="1054577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実装と検証を、一緒に進める仲間を探しています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618899" y="258471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51999" y="4114577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96423" y="142772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74818" y="3275479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90701" y="581843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2004" y="5228874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8900" y="524732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16349" y="615675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3004" y="2954643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76300" y="815576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8953" y="645100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96722" y="2917077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32724" y="3981321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7956" y="621381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21317" y="1241761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1756" y="3877662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17421" y="390638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3360" y="5726879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51950" y="61534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58418" y="517406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37434" y="512759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17313" y="3759139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73227" y="416683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61491" y="365998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31469" y="189276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94219" y="640672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01 聞いてきた声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011680"/>
            <a:ext cx="1054577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中村 舞衣子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200400"/>
            <a:ext cx="10545775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調査・研究を行うシンクタンクで、マーケティングを担当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副業で、働く女性の社外メンター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大学院で、省察支援を研究（JSET 2026）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02914" y="275418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483" y="279010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07388" y="366713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1410" y="1882026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22298" y="537957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7145" y="425335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73302" y="237337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26042" y="1788555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53395" y="5492771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31121" y="389882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90417" y="2933843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0780" y="169703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1673" y="318664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05282" y="3242283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976635" y="1452590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2574" y="304694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38092" y="400530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7056" y="58286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1639" y="417841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98056" y="133551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9162" y="4709866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67907" y="2306635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87000" y="117560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5032" y="687692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35997" y="180624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60205" y="254167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01 聞いてきた声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面談で、最も多く聞いてきた悩み</a:t>
            </a:r>
          </a:p>
          <a:p>
            <a:pPr algn="l">
              <a:lnSpc>
                <a:spcPct val="135000"/>
              </a:lnSpc>
            </a:pPr>
            <a:r>
              <a:rPr sz="4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仕事と家庭の両立。</a:t>
            </a:r>
          </a:p>
          <a:p>
            <a:pPr algn="l">
              <a:lnSpc>
                <a:spcPct val="135000"/>
              </a:lnSpc>
            </a:pPr>
            <a:r>
              <a:rPr sz="4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つまり、時間の制約。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22897" y="4665426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9315" y="179978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21646" y="322818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13360" y="390904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5912" y="199734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93360" y="64987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46751" y="6495527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31349" y="641625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04184" y="642502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10801" y="466669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967" y="287655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3218" y="213937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00086" y="237658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2621" y="330399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73737" y="4757761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14344" y="33132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6545" y="5297066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4406" y="241819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22422" y="638413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0169" y="621842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43624" y="597857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60706" y="5041659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6082" y="6323241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12455" y="414851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43010" y="474437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95067" y="217061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02 意欲を止める、時間の制約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「やりたいことがない」</a:t>
            </a:r>
          </a:p>
          <a:p>
            <a:pPr algn="l">
              <a:lnSpc>
                <a:spcPct val="135000"/>
              </a:lnSpc>
            </a:pPr>
            <a:r>
              <a:rPr sz="4400" b="0">
                <a:solidFill>
                  <a:srgbClr val="9AA3B5"/>
                </a:solidFill>
                <a:latin typeface="游明朝 Demibold"/>
                <a:ea typeface="游明朝 Demibold"/>
                <a:cs typeface="游明朝 Demibold"/>
              </a:rPr>
              <a:t>という声では、ない。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96806" y="42194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8606" y="645125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90503" y="1953301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01094" y="609453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45825" y="472435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83426" y="4634543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93350" y="253398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47933" y="79172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91389" y="207331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58906" y="5557832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13369" y="608764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56494" y="408956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50209" y="76515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75513" y="192205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03608" y="107949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7680" y="1408268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45934" y="380389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6044" y="2709436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007379" y="53230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08729" y="2765261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10621" y="76106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53328" y="265005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25704" y="215302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55178" y="4598769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28624" y="644837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44550" y="181332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02 意欲を止める、時間の制約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「活躍したい」</a:t>
            </a:r>
          </a:p>
          <a:p>
            <a:pPr algn="l">
              <a:lnSpc>
                <a:spcPct val="135000"/>
              </a:lnSpc>
            </a:pPr>
            <a:r>
              <a:rPr sz="4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「学び直したい」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52037" y="49636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74893" y="608889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99286" y="289775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99529" y="56663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40621" y="396783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07454" y="504825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65963" y="104748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76996" y="388938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60845" y="433085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60470" y="590521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18534" y="460019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89057" y="617808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0756" y="1349968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75977" y="359258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90764" y="4136388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36964" y="125385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73" y="2920646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59447" y="5866692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05397" y="4041671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16284" y="6315976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37100" y="576760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17634" y="4605635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57673" y="594175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6928" y="2490638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0071" y="517043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11156" y="272101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02 意欲を止める、時間の制約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でも、時間がない。</a:t>
            </a:r>
          </a:p>
          <a:p>
            <a:pPr algn="l">
              <a:lnSpc>
                <a:spcPct val="135000"/>
              </a:lnSpc>
            </a:pPr>
            <a:r>
              <a:rPr sz="48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自信まで、失っていく。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62918" y="100305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01176" y="544980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3574" y="316368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6513" y="143088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19635" y="5110647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03886" y="6039297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27854" y="1860193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16946" y="263178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55106" y="74156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42879" y="412182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82554" y="114508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93558" y="3072815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79094" y="5144868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44918" y="474137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62094" y="2187627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45637" y="4448646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67063" y="26024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38539" y="2931706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49449" y="5970502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071" y="1261771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90390" y="122602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66" y="265287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34343" y="168725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57878" y="2896386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60230" y="40383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18506" y="118045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02 意欲を止める、時間の制約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280160"/>
            <a:ext cx="6949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MORUNE 25143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920240"/>
            <a:ext cx="713232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育児や介護、療養などで</a:t>
            </a:r>
          </a:p>
          <a:p>
            <a:pPr algn="l">
              <a:lnSpc>
                <a:spcPct val="14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願いをいったん手放した人が</a:t>
            </a:r>
          </a:p>
          <a:p>
            <a:pPr algn="l">
              <a:lnSpc>
                <a:spcPct val="14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急かされずに預け、</a:t>
            </a:r>
          </a:p>
          <a:p>
            <a:pPr algn="l">
              <a:lnSpc>
                <a:spcPct val="145000"/>
              </a:lnSpc>
            </a:pPr>
            <a:r>
              <a:rPr sz="30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自分のタイミングで受け取り直す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7132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677D"/>
                </a:solidFill>
                <a:latin typeface="メイリオ"/>
                <a:ea typeface="メイリオ"/>
                <a:cs typeface="メイリオ"/>
              </a:rPr>
              <a:t>参考：6歳未満の子どもがいる世帯の家事関連時間は1日あたり妻7時間28分・夫1時間54分（総務省「令和3年社会生活基本調査」）</a:t>
            </a:r>
          </a:p>
        </p:txBody>
      </p:sp>
      <p:pic>
        <p:nvPicPr>
          <p:cNvPr id="32" name="Picture 31" descr="02-depos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57200"/>
            <a:ext cx="274645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97642" y="1082311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28748" y="601484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737646" y="418632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65141" y="475004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80362" y="1276354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8936" y="584233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20075" y="502670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06725" y="163909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19363" y="609977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23326" y="46331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815" y="264224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590" y="294029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701" y="5145308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8001" y="597704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35037" y="3434215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73694" y="2910318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36312" y="78937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5894" y="485492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75817" y="461854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55903" y="6641905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55597" y="279514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10033" y="46224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6715" y="3852498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83329" y="590714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66688" y="1473356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36176" y="231695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03 研究から得た設計の足場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「いつかやりたい」は、</a:t>
            </a:r>
          </a:p>
          <a:p>
            <a:pPr algn="l">
              <a:lnSpc>
                <a:spcPct val="135000"/>
              </a:lnSpc>
            </a:pPr>
            <a:r>
              <a:rPr sz="4400" b="0">
                <a:solidFill>
                  <a:srgbClr val="9AA3B5"/>
                </a:solidFill>
                <a:latin typeface="游明朝 Demibold"/>
                <a:ea typeface="游明朝 Demibold"/>
                <a:cs typeface="游明朝 Demibold"/>
              </a:rPr>
              <a:t>ToDo にすると、重荷になる。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889623" y="27917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2588" y="442538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40282" y="231085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68098" y="472150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82053" y="291782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48523" y="2150711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86485" y="576652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36043" y="47023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67230" y="629209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12894" y="6014185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07" y="3013697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95685" y="5662771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51478" y="173046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4428" y="412157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13209" y="70842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65071" y="6110052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80675" y="520227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95229" y="142241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659791" y="3075869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82471" y="134148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2370" y="125369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60906" y="243939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2111" y="4809076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52120" y="188233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54121" y="6159766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49080" y="4963251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03 研究から得た設計の足場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0">
                <a:solidFill>
                  <a:srgbClr val="9AA3B5"/>
                </a:solidFill>
                <a:latin typeface="游明朝 Demibold"/>
                <a:ea typeface="游明朝 Demibold"/>
                <a:cs typeface="游明朝 Demibold"/>
              </a:rPr>
              <a:t>必要なのは、強い決意ではなく</a:t>
            </a:r>
          </a:p>
          <a:p>
            <a:pPr algn="l">
              <a:lnSpc>
                <a:spcPct val="135000"/>
              </a:lnSpc>
            </a:pPr>
            <a:r>
              <a:rPr sz="48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小さなきっかけ。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大学院の研究：省察の再起動を支援する軽量学習ログシステムの設計要件（JSET 2026）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316086" y="5254735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94594" y="1415769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43517" y="1391564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59740" y="3680207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8235" y="644631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0277" y="361325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32270" y="175363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41604" y="401953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45958" y="2092582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7951" y="443400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57864" y="5637760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6821" y="3512650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42563" y="88356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3763" y="640272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62984" y="609258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76541" y="276305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26773" y="523715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13441" y="234210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74609" y="4772997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81228" y="334345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00689" y="657956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95413" y="93927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8448" y="579434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74725" y="274260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82297" y="156730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0658" y="231853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03 研究から得た設計の足場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0972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四つの足場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09728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MORUNE では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600200"/>
            <a:ext cx="5669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手がかりは小さく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600200"/>
            <a:ext cx="54864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600200"/>
            <a:ext cx="493776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願いは12字だけ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743200"/>
            <a:ext cx="5669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仕組みは軽く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743200"/>
            <a:ext cx="54864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743200"/>
            <a:ext cx="493776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預けるだけ。期限も通知もない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886200"/>
            <a:ext cx="5669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迷ったまま選べる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886200"/>
            <a:ext cx="54864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886200"/>
            <a:ext cx="493776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受け取る／もう少し預ける／手放す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029200"/>
            <a:ext cx="5669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つながりを感じられる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029200"/>
            <a:ext cx="54864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29200"/>
            <a:ext cx="493776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みんなの星空・支援の場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8107" y="4509376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1314" y="261587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66003" y="4666373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2580" y="423554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1842" y="606467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6193" y="66726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67822" y="5651964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6051" y="448103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4074" y="293435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98221" y="648893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83705" y="6520306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07646" y="547858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36057" y="4052066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30914" y="380856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28585" y="449110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5698" y="2686250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67482" y="2359290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61857" y="5149975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7559" y="576025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7290" y="4569390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0163" y="412554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5078" y="196037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75740" y="409164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14083" y="153841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15128" y="640730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87195" y="1270739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04 はやぶさ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この体験に重ねたのは、</a:t>
            </a:r>
          </a:p>
          <a:p>
            <a:pPr algn="l">
              <a:lnSpc>
                <a:spcPct val="135000"/>
              </a:lnSpc>
            </a:pPr>
            <a:r>
              <a:rPr sz="48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はやぶさの帰還。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86696" y="462410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09451" y="113827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3395" y="102825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67471" y="298480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0221" y="73440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90247" y="634611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34203" y="3343208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89916" y="2973389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0772" y="5504203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5362" y="4150864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86927" y="306153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79129" y="357633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16412" y="411392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08839" y="375378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79322" y="103402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22409" y="3193029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00805" y="581492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72517" y="471531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83111" y="4942676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84234" y="5725008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56293" y="1072365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52620" y="5776405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82262" y="433790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75375" y="125074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61693" y="296899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3492" y="437097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04 はやぶさ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編集長代理を務めた時期に、川口淳一郎先生（はやぶさ プロジェクトマネージャー）を取材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468880"/>
            <a:ext cx="10545775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「高い塔を建てなければ、</a:t>
            </a:r>
          </a:p>
          <a:p>
            <a:pPr algn="l">
              <a:lnSpc>
                <a:spcPct val="135000"/>
              </a:lnSpc>
            </a:pPr>
            <a:r>
              <a:rPr sz="4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新たな水平線は見えてこない」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120640"/>
            <a:ext cx="1054577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新しい役割へ踏み出す私を、支えた言葉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91610" y="441609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76501" y="207222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01494" y="3212278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7740" y="95155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16951" y="187347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02904" y="449372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89821" y="98159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6892" y="1510034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80774" y="6248617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05919" y="906968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0509" y="503260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32862" y="1941178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22836" y="343211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58008" y="76416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975" y="498935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537" y="786552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74045" y="2693352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20752" y="289464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94501" y="171675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12924" y="3357937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02907" y="5541253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8802" y="479058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99470" y="2145388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14505" y="322941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70094" y="40867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06660" y="398761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04 はやぶさ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828800"/>
            <a:ext cx="694944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36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手放した願いを、</a:t>
            </a:r>
          </a:p>
          <a:p>
            <a:pPr algn="l">
              <a:lnSpc>
                <a:spcPct val="145000"/>
              </a:lnSpc>
            </a:pPr>
            <a:r>
              <a:rPr sz="36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遠い星に預ける。</a:t>
            </a:r>
          </a:p>
          <a:p>
            <a:pPr algn="l">
              <a:lnSpc>
                <a:spcPct val="145000"/>
              </a:lnSpc>
            </a:pPr>
            <a:r>
              <a:rPr sz="36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カプセルのように、</a:t>
            </a:r>
          </a:p>
          <a:p>
            <a:pPr algn="l">
              <a:lnSpc>
                <a:spcPct val="145000"/>
              </a:lnSpc>
            </a:pPr>
            <a:r>
              <a:rPr sz="36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一つずつ帰ってくる。</a:t>
            </a:r>
          </a:p>
        </p:txBody>
      </p:sp>
      <p:pic>
        <p:nvPicPr>
          <p:cNvPr id="30" name="Picture 29" descr="06-la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57200"/>
            <a:ext cx="274645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47939" y="41774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694" y="540831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006641" y="1739168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57940" y="200448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86403" y="5752164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24689" y="618715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08213" y="5640757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35899" y="537043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09883" y="4688661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70316" y="543916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6447" y="562866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7190" y="416942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0456" y="116768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58539" y="66063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93890" y="169147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65048" y="2203479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83063" y="2365424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37866" y="562135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63932" y="457417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4985" y="187103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2229" y="310877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55811" y="342852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1972" y="58349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39166" y="168762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08356" y="4586301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22164" y="439309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05 デモ</a:t>
            </a:r>
          </a:p>
        </p:txBody>
      </p:sp>
      <p:pic>
        <p:nvPicPr>
          <p:cNvPr id="29" name="demo-16x9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63040" y="914400"/>
            <a:ext cx="9235440" cy="51937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63040" y="6217920"/>
            <a:ext cx="9235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▶ クリックで再生・2分02秒（このPCの中だけのデータで撮影。見本の願い入り）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865013" y="2889836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5786" y="445286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92300" y="24863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67409" y="636142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16404" y="639079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49834" y="542625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84829" y="425188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38464" y="2531659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5710" y="2929897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8139" y="468581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2251" y="170726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80779" y="317503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2581" y="490846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45383" y="337402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93229" y="3132086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21059" y="646791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7980" y="39729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71708" y="410298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88614" y="5466508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66915" y="477662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956" y="424430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04935" y="6289331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23202" y="4684812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66891" y="173399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13168" y="113878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77" y="3198245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06 技術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371600"/>
            <a:ext cx="10545775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3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AI に書かせ、</a:t>
            </a:r>
          </a:p>
          <a:p>
            <a:pPr algn="l">
              <a:lnSpc>
                <a:spcPct val="140000"/>
              </a:lnSpc>
            </a:pPr>
            <a:r>
              <a:rPr sz="3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何を作るかは、わたしが決め、数で確かめた。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5661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星が重なる日（1年あたり）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2336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6000" b="0">
                <a:solidFill>
                  <a:srgbClr val="9AA3B5"/>
                </a:solidFill>
                <a:latin typeface="游明朝 Demibold"/>
                <a:ea typeface="游明朝 Demibold"/>
                <a:cs typeface="游明朝 Demibold"/>
              </a:rPr>
              <a:t>360日</a:t>
            </a:r>
            <a:r>
              <a:rPr sz="60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　→　</a:t>
            </a:r>
            <a:r>
              <a:rPr sz="60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0日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77840"/>
            <a:ext cx="1054577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E677D"/>
                </a:solidFill>
                <a:latin typeface="メイリオ"/>
                <a:ea typeface="メイリオ"/>
                <a:cs typeface="メイリオ"/>
              </a:rPr>
              <a:t>作って試してから、やめたもの：AI で願いの絵をつくる機能・星座の線・応援の信号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41628" y="2063197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33093" y="1798818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49694" y="539208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90449" y="58665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22875" y="364231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68451" y="591199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7662" y="347631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65368" y="1102227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62445" y="298664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3914" y="5065270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9926" y="2616359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08646" y="379786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04633" y="56015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62299" y="410352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71028" y="613320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09956" y="6084590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8340" y="5073286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07470" y="1952034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27845" y="185837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7463" y="359292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17142" y="635982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496602" y="1815149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88555" y="1561765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71167" y="50387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58511" y="220738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974505" y="3300807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06 技術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位置情報は、外へ送らない。</a:t>
            </a:r>
          </a:p>
          <a:p>
            <a:pPr algn="l">
              <a:lnSpc>
                <a:spcPct val="135000"/>
              </a:lnSpc>
            </a:pPr>
            <a:r>
              <a:rPr sz="40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願いは、初めは端末の中だけ。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オフラインでも動く ／ 「みんなの星空に出す」と選んだ願いだけを送る ／ イトカワまでの距離も計算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4914" y="235492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11787" y="137079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70712" y="1456124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357270" y="513285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81795" y="148279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87397" y="5444929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53684" y="1903296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89795" y="490341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61594" y="1949733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64267" y="3765622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8769" y="3433912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73703" y="5333067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37195" y="541974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55262" y="390773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50624" y="566271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97388" y="3283309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34245" y="784146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0100" y="5270268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57005" y="4607526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4512" y="568478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15615" y="281058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11343" y="477567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51540" y="4923756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14219" y="471931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92407" y="517207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66360" y="380983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07 届け方と事業モデル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入口は、</a:t>
            </a:r>
          </a:p>
          <a:p>
            <a:pPr algn="l">
              <a:lnSpc>
                <a:spcPct val="135000"/>
              </a:lnSpc>
            </a:pPr>
            <a:r>
              <a:rPr sz="4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展示と、キャリア・復職支援の場。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10133" y="147806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04891" y="1145418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62793" y="230822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7877" y="600772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86619" y="589050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97770" y="270551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83992" y="827938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89855" y="6605082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63817" y="1694541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98307" y="108233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4215" y="3156776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09055" y="355998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47929" y="370156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8857" y="35091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26994" y="476140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07563" y="3099506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05653" y="3031112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5658" y="684599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95049" y="2913527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5906" y="311238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48165" y="196694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06760" y="203862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81032" y="3232082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51949" y="429810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24163" y="206414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5904" y="249791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07 届け方と事業モデル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280160"/>
            <a:ext cx="69494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個人は、無料。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468880"/>
            <a:ext cx="69494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クライアントへの導入と、</a:t>
            </a:r>
          </a:p>
          <a:p>
            <a:pPr algn="l">
              <a:lnSpc>
                <a:spcPct val="145000"/>
              </a:lnSpc>
            </a:pPr>
            <a:r>
              <a:rPr sz="26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日常へつなぐ目印の物販で続ける。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754880"/>
            <a:ext cx="69494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帰還票 ／ キーホルダー ／ ブレスレット</a:t>
            </a:r>
          </a:p>
        </p:txBody>
      </p:sp>
      <p:pic>
        <p:nvPicPr>
          <p:cNvPr id="32" name="Picture 31" descr="10b-receipt-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57200"/>
            <a:ext cx="274645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53676" y="569699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58439" y="128252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935943" y="853189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17980" y="310049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0565" y="608196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36951" y="4257954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6291" y="3904296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00726" y="141859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45729" y="124338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6948" y="170180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92359" y="26714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1523" y="4382538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1480" y="1960472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30275" y="621309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63347" y="5245348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32166" y="6070072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69973" y="1301658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40869" y="5923407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24192" y="4547405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54747" y="513592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23461" y="627311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7383" y="5034133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25829" y="74068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7017" y="359108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74374" y="261782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90129" y="6001570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08 今後の検証とお願い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この作品を作る途中で、</a:t>
            </a:r>
          </a:p>
          <a:p>
            <a:pPr algn="l">
              <a:lnSpc>
                <a:spcPct val="135000"/>
              </a:lnSpc>
            </a:pPr>
            <a:r>
              <a:rPr sz="4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わたしも、立ち止まる側になった。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40018" y="4305452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887259" y="3264403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21631" y="530138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13853" y="296279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80420" y="468796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97145" y="2823722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97530" y="3689659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40745" y="257492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0693" y="993612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88021" y="491220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9750" y="450092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5370" y="146430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06858" y="381166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18257" y="113172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1954" y="311296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947825" y="2692736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2538" y="483131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5795" y="3756409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83708" y="379572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02427" y="425024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92493" y="6218739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77825" y="617606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16134" y="461936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36531" y="124167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88371" y="262110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02141" y="63302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08 今後の検証とお願い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願いを急かさず、</a:t>
            </a:r>
          </a:p>
          <a:p>
            <a:pPr algn="l">
              <a:lnSpc>
                <a:spcPct val="135000"/>
              </a:lnSpc>
            </a:pPr>
            <a:r>
              <a:rPr sz="4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「もう一度」と思えた日に、返す。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62163" y="666622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08993" y="4412063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3439" y="6412087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01324" y="3766585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32101" y="3929839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04601" y="2919479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75317" y="627252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43264" y="235656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78158" y="525403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41948" y="451645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830" y="3635560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22826" y="3469769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99821" y="613278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3159" y="3965219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6814" y="3708948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16864" y="2957289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361" y="298596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75136" y="636451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2797" y="316268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9464" y="2625621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1814" y="427002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5768" y="1056694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85986" y="521074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75945" y="616233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93926" y="3419467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43864" y="4622625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08 今後の検証とお願い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03120"/>
            <a:ext cx="1054577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まず、</a:t>
            </a:r>
          </a:p>
          <a:p>
            <a:pPr algn="l">
              <a:lnSpc>
                <a:spcPct val="135000"/>
              </a:lnSpc>
            </a:pPr>
            <a:r>
              <a:rPr sz="4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展示と支援の場で、検証する。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826" y="217433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17509" y="4895949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9341" y="4209111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7238" y="4792423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45255" y="4949541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14608" y="412118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16120" y="1585497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68067" y="2576463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08737" y="3902839"/>
            <a:ext cx="36576" cy="3657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72884" y="4017259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9606" y="1364657"/>
            <a:ext cx="45720" cy="45720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07533" y="547972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34598" y="823042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41687" y="3901777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4383" y="2055789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241" y="1860595"/>
            <a:ext cx="36576" cy="36576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52155" y="4773825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64886" y="1107700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60883" y="6512855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05110" y="334556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3494" y="1625470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54122" y="3072435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1721" y="5300244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0361" y="1898888"/>
            <a:ext cx="45720" cy="45720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22883" y="1584886"/>
            <a:ext cx="27432" cy="27432"/>
          </a:xfrm>
          <a:prstGeom prst="ellipse">
            <a:avLst/>
          </a:prstGeom>
          <a:solidFill>
            <a:srgbClr val="5E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8444" y="1284482"/>
            <a:ext cx="27432" cy="27432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08 今後の検証とお願い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097280"/>
            <a:ext cx="749807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やりたかったことを、置き去りにしない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28600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2286000"/>
            <a:ext cx="219456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展示の機会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2286000"/>
            <a:ext cx="475488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科学館・プラネタリウム・自治体のイベント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42900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429000"/>
            <a:ext cx="219456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検証の場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429000"/>
            <a:ext cx="475488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キャリアや復職を支える人事・支援者のもとで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57200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4572000"/>
            <a:ext cx="219456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実装の仲間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572000"/>
            <a:ext cx="475488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実装と検証を一緒に進めるエンジニア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2103120"/>
            <a:ext cx="292608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qr-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286000"/>
            <a:ext cx="2468880" cy="24688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778240" y="4846320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0B1020"/>
                </a:solidFill>
                <a:latin typeface="メイリオ"/>
                <a:ea typeface="メイリオ"/>
                <a:cs typeface="メイリオ"/>
              </a:rPr>
              <a:t>いま、ひとつ預けられます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0B1020"/>
                </a:solidFill>
                <a:latin typeface="メイリオ"/>
                <a:ea typeface="メイリオ"/>
                <a:cs typeface="メイリオ"/>
              </a:rPr>
              <a:t>morune-25143.morune-25143.workers.dev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