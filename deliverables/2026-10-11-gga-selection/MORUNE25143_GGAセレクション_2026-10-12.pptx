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【0:00–0:15】出場目的を最初に宣言する</a:t>
            </a:r>
          </a:p>
          <a:p>
            <a:r>
              <a:t>・MORUNE 25143 の中村です。</a:t>
            </a:r>
          </a:p>
          <a:p>
            <a:r>
              <a:t>・今日の出場目的は、起業です。この体験を、展示と、働く人を支える場で届ける仲間を探しています。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【0:15–0:55】</a:t>
            </a:r>
          </a:p>
          <a:p>
            <a:r>
              <a:t>・療養や休職、育休や介護。自分を後回しにする時期があります。</a:t>
            </a:r>
          </a:p>
          <a:p>
            <a:r>
              <a:t>・その間にも「いつかやりたいこと」は浮かびます。でも今じゃない、と思って書かない。</a:t>
            </a:r>
          </a:p>
          <a:p>
            <a:r>
              <a:t>・ToDo に入れると重荷になる。SNS に書くのは違う。メモは見返さない。置き場所がないまま、忘れてしまいます。</a:t>
            </a:r>
          </a:p>
          <a:p>
            <a:r>
              <a:t>・戻ったときには思い出せないか、たまりすぎて選べない。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【0:55–1:35】</a:t>
            </a:r>
          </a:p>
          <a:p>
            <a:r>
              <a:t>・あらためて、中村舞衣子です。社外の女性メンターをしています。大学院では 1on1 のふりかえりを研究しました。</a:t>
            </a:r>
          </a:p>
          <a:p>
            <a:r>
              <a:t>・前職で、はやぶさのプロジェクトマネージャーを取材しました。はやぶさは7年かけて、小惑星 25143 イトカワから帰ってきました。作品名の 25143 はこの番号です。</a:t>
            </a:r>
          </a:p>
          <a:p>
            <a:r>
              <a:t>・メンターとして、自分を後回しにしてきた人に出会ってきました。昔やりたかったこと、好きなことが置き去りになっている。</a:t>
            </a:r>
          </a:p>
          <a:p>
            <a:r>
              <a:t>・そしてこの作品を作っている途中で、わたし自身が、立ち止まる側になりました。それでも、やりたいことはあきらめない。</a:t>
            </a:r>
          </a:p>
          <a:p>
            <a:r>
              <a:t>・過去の自分の言葉に出会い直すと、次の一歩を選びやすくなる。研究で学んだことです。だから、まず自分のために、これを作りました。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【1:35–2:05】</a:t>
            </a:r>
          </a:p>
          <a:p>
            <a:r>
              <a:t>・やりたいことを12字で星に預けます。本物の星空の、北の星座の星に灯ります。19個まで。</a:t>
            </a:r>
          </a:p>
          <a:p>
            <a:r>
              <a:t>・何もしなくても星は暗くなりません。期限も通知もありません。</a:t>
            </a:r>
          </a:p>
          <a:p>
            <a:r>
              <a:t>・やりたくなったら、その星に触れると、願いが帰ってきます。</a:t>
            </a:r>
          </a:p>
          <a:p>
            <a:r>
              <a:t>・受け取ると帰還票ができて、最初の小さな一歩を1つ書きます。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【2:05–3:25】動画を再生する（約70秒）</a:t>
            </a:r>
          </a:p>
          <a:p>
            <a:r>
              <a:t>・預けます。「ギターをもう一度」。初めは、わたしの星空にだけ灯ります。</a:t>
            </a:r>
          </a:p>
          <a:p>
            <a:r>
              <a:t>・30日前に預けた「天文台で土星の輪を見る」の星に触れます。カプセルが地球に着きます。</a:t>
            </a:r>
          </a:p>
          <a:p>
            <a:r>
              <a:t>・「30日ぶりに帰ってきました」。受け取るか、もう少し預けるか、手放すか。</a:t>
            </a:r>
          </a:p>
          <a:p>
            <a:r>
              <a:t>・受け取ると、帰還票が現像されます。最初の小さな一歩は「土曜の観望会を調べる」。</a:t>
            </a:r>
          </a:p>
          <a:p>
            <a:r>
              <a:t>・最後に、みんなの星空を遠くから眺めます。ほかの人の願いが、光として灯っています。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【3:25–4:05】</a:t>
            </a:r>
          </a:p>
          <a:p>
            <a:r>
              <a:t>・急かさない：期限も、通知も、連続日数もありません。何もしなくても星は暗くなりません。今でなければ「もう少し預ける」、要らなくなれば「手放す」。</a:t>
            </a:r>
          </a:p>
          <a:p>
            <a:r>
              <a:t>・比べない：人と比べる数を持ちません。</a:t>
            </a:r>
          </a:p>
          <a:p>
            <a:r>
              <a:t>・晒さない：願いは、初めは自分の星空だけ。みんなの星空では、ほかの人の言葉ではなく光を分け合います。「自分だけじゃない」は感じられて、傷つく言葉は入りません。つらい言葉を書いた人には、端末の中だけで相談先を案内し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【4:05–4:35】</a:t>
            </a:r>
          </a:p>
          <a:p>
            <a:r>
              <a:t>・コードは Claude と Codex に書かせ、互いにレビューさせました。何を作って何をやめるかは、わたしが決めました。AI で願いの絵をつくる機能、星座の線、応援の信号は、作って試してからやめました。</a:t>
            </a:r>
          </a:p>
          <a:p>
            <a:r>
              <a:t>・決めるときは数で確かめました。願いを30個まで置ける作りでは、1年のうち360日ほど、星が重なる日がありました。19の席にして0日にしました。同じ願いが続けて帰る確率も、50%から0%にしました。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【4:35–5:15】</a:t>
            </a:r>
          </a:p>
          <a:p>
            <a:r>
              <a:t>・最初の入口は展示です。科学館や宇宙イベントで、QR から願いを預け、その場で帰還票を印刷して渡します。キャリアや復職を支える場でも、同じ形で使えます。</a:t>
            </a:r>
          </a:p>
          <a:p>
            <a:r>
              <a:t>・紙とブレスレットが、家まで願いを連れて帰ります。帰還票の QR から、自分の星に戻れます。</a:t>
            </a:r>
          </a:p>
          <a:p>
            <a:r>
              <a:t>・個人からはお金を取りません。展示の導入、持ち帰る物、アーティストとの共創で成り立たせます。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【5:15–5:40】</a:t>
            </a:r>
          </a:p>
          <a:p>
            <a:r>
              <a:t>・わたしはメンターとして、自分を後回しにしてきた人に出会ってきました。MORUNE は、その人たちのやりたかったことを預かっておく場所です。</a:t>
            </a:r>
          </a:p>
          <a:p>
            <a:r>
              <a:t>・まず1回、展示させてください。科学館、プラネタリウム、自治体のイベントの方。</a:t>
            </a:r>
          </a:p>
          <a:p>
            <a:r>
              <a:t>・次に、キャリアや復職を支える場で試させてください。人事の方、キャリア支援をしている方。</a:t>
            </a:r>
          </a:p>
          <a:p>
            <a:r>
              <a:t>・QR から、今ひとつ預けられます。ありがとうございました。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Relationship Id="rId4" Type="http://schemas.openxmlformats.org/officeDocument/2006/relationships/image" Target="../media/image1.png"/><Relationship Id="rId5" Type="http://schemas.openxmlformats.org/officeDocument/2006/relationships/image" Target="../media/image3.png"/><Relationship Id="rId6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microsoft.com/office/2007/relationships/media" Target="../media/media1.mp4"/><Relationship Id="rId4" Type="http://schemas.openxmlformats.org/officeDocument/2006/relationships/video" Target="../media/media1.mp4"/><Relationship Id="rId5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822960"/>
            <a:ext cx="64008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E2B867"/>
                </a:solidFill>
                <a:latin typeface="Cormorant Garamond"/>
                <a:ea typeface="Cormorant Garamond"/>
                <a:cs typeface="Cormorant Garamond"/>
              </a:rPr>
              <a:t>LEAVE YOUR WISH WITH THE STARS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280160"/>
            <a:ext cx="6583680" cy="21945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4800" b="0">
                <a:solidFill>
                  <a:srgbClr val="F2EEE6"/>
                </a:solidFill>
                <a:latin typeface="游明朝 Demibold"/>
                <a:ea typeface="游明朝 Demibold"/>
                <a:cs typeface="游明朝 Demibold"/>
              </a:rPr>
              <a:t>やりたいことを</a:t>
            </a:r>
          </a:p>
          <a:p>
            <a:pPr algn="l">
              <a:lnSpc>
                <a:spcPct val="115000"/>
              </a:lnSpc>
            </a:pPr>
            <a:r>
              <a:rPr sz="4800" b="0">
                <a:solidFill>
                  <a:srgbClr val="F2EEE6"/>
                </a:solidFill>
                <a:latin typeface="游明朝 Demibold"/>
                <a:ea typeface="游明朝 Demibold"/>
                <a:cs typeface="游明朝 Demibold"/>
              </a:rPr>
              <a:t>星に預けておく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337560"/>
            <a:ext cx="64008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1">
                <a:solidFill>
                  <a:srgbClr val="F2EEE6"/>
                </a:solidFill>
                <a:latin typeface="メイリオ"/>
                <a:ea typeface="メイリオ"/>
                <a:cs typeface="メイリオ"/>
              </a:rPr>
              <a:t>MORUNE </a:t>
            </a:r>
            <a:r>
              <a:rPr sz="2400" b="1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25143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4206240"/>
            <a:ext cx="6583680" cy="1371600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 w="15875">
            <a:solidFill>
              <a:srgbClr val="E2B86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4297680"/>
            <a:ext cx="612648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出場目的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4663440"/>
            <a:ext cx="6126480" cy="8686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>
                <a:solidFill>
                  <a:srgbClr val="F2EEE6"/>
                </a:solidFill>
                <a:latin typeface="メイリオ"/>
                <a:ea typeface="メイリオ"/>
                <a:cs typeface="メイリオ"/>
              </a:rPr>
              <a:t>起業（スモールビジネス）</a:t>
            </a:r>
          </a:p>
          <a:p>
            <a:pPr algn="l">
              <a:lnSpc>
                <a:spcPct val="135000"/>
              </a:lnSpc>
            </a:pPr>
            <a:r>
              <a:rPr sz="1800" b="0">
                <a:solidFill>
                  <a:srgbClr val="F2EEE6"/>
                </a:solidFill>
                <a:latin typeface="メイリオ"/>
                <a:ea typeface="メイリオ"/>
                <a:cs typeface="メイリオ"/>
              </a:rPr>
              <a:t>この体験を、展示と支援の場で届ける仲間を探しています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989320"/>
            <a:ext cx="64008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中村 舞衣子　G's ACADEMY 卒業制作</a:t>
            </a:r>
          </a:p>
        </p:txBody>
      </p:sp>
      <p:pic>
        <p:nvPicPr>
          <p:cNvPr id="9" name="Picture 8" descr="max-hom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3920" y="320040"/>
            <a:ext cx="3038302" cy="62179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01  </a:t>
            </a: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6424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2500" b="0">
                <a:solidFill>
                  <a:srgbClr val="F2EEE6"/>
                </a:solidFill>
                <a:latin typeface="游明朝 Demibold"/>
                <a:ea typeface="游明朝 Demibold"/>
                <a:cs typeface="游明朝 Demibold"/>
              </a:rPr>
              <a:t>「今じゃなくていい」のまま、やりたかったことを忘れてしまう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2011680"/>
            <a:ext cx="3291840" cy="2926080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59" y="2240280"/>
            <a:ext cx="27432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0">
                <a:solidFill>
                  <a:srgbClr val="F2EEE6"/>
                </a:solidFill>
                <a:latin typeface="游明朝 Demibold"/>
                <a:ea typeface="游明朝 Demibold"/>
                <a:cs typeface="游明朝 Demibold"/>
              </a:rPr>
              <a:t>後回しにする時期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59" y="2971800"/>
            <a:ext cx="2743200" cy="1828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療養・休職・育休・介護
忙しい時期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58768" y="3108960"/>
            <a:ext cx="45720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lnSpc>
                <a:spcPct val="125000"/>
              </a:lnSpc>
            </a:pPr>
            <a:r>
              <a:rPr sz="2600" b="0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2011680"/>
            <a:ext cx="3291840" cy="2926080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63440" y="2240280"/>
            <a:ext cx="27432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0">
                <a:solidFill>
                  <a:srgbClr val="F2EEE6"/>
                </a:solidFill>
                <a:latin typeface="游明朝 Demibold"/>
                <a:ea typeface="游明朝 Demibold"/>
                <a:cs typeface="游明朝 Demibold"/>
              </a:rPr>
              <a:t>「今じゃなくていい」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63440" y="2971800"/>
            <a:ext cx="2743200" cy="1828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やりたいことは浮かぶが
ToDo は重荷、SNS は違う
メモは見返さない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99248" y="3108960"/>
            <a:ext cx="45720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lnSpc>
                <a:spcPct val="125000"/>
              </a:lnSpc>
            </a:pPr>
            <a:r>
              <a:rPr sz="2600" b="0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0" y="2011680"/>
            <a:ext cx="3291840" cy="2926080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 w="15875">
            <a:solidFill>
              <a:srgbClr val="E2B86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03920" y="2240280"/>
            <a:ext cx="27432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0">
                <a:solidFill>
                  <a:srgbClr val="E2B867"/>
                </a:solidFill>
                <a:latin typeface="游明朝 Demibold"/>
                <a:ea typeface="游明朝 Demibold"/>
                <a:cs typeface="游明朝 Demibold"/>
              </a:rPr>
              <a:t>忘れてしまう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20" y="2971800"/>
            <a:ext cx="2743200" cy="1828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戻ったときに思い出せない
たまりすぎて選べない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5349240"/>
            <a:ext cx="1115568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最初に届ける人：しばらく仕事を離れる人（仮の人物「みわさん 42歳」）。休みの前の晩、「天文台で土星を見たい」と思うが、どこにも書かない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02  </a:t>
            </a: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Why 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6424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0">
                <a:solidFill>
                  <a:srgbClr val="F2EEE6"/>
                </a:solidFill>
                <a:latin typeface="游明朝 Demibold"/>
                <a:ea typeface="游明朝 Demibold"/>
                <a:cs typeface="游明朝 Demibold"/>
              </a:rPr>
              <a:t>なぜ、わたしが願いを宇宙に預けるのか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11109960" cy="914400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600200"/>
            <a:ext cx="2743200" cy="9144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0">
                <a:solidFill>
                  <a:srgbClr val="F2EEE6"/>
                </a:solidFill>
                <a:latin typeface="游明朝 Demibold"/>
                <a:ea typeface="游明朝 Demibold"/>
                <a:cs typeface="游明朝 Demibold"/>
              </a:rPr>
              <a:t>中村 舞衣子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383280" y="1600200"/>
            <a:ext cx="8138160" cy="9144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社外女性メンター</a:t>
            </a:r>
          </a:p>
          <a:p>
            <a:pPr algn="l">
              <a:lnSpc>
                <a:spcPct val="125000"/>
              </a:lnSpc>
            </a:pPr>
            <a:r>
              <a:rPr sz="14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大学院で 1on1 のふりかえりを研究（JSET 2026）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788920"/>
            <a:ext cx="2468880" cy="2514600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926080"/>
            <a:ext cx="2103120" cy="502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0">
                <a:solidFill>
                  <a:srgbClr val="E2B867"/>
                </a:solidFill>
                <a:latin typeface="游明朝 Demibold"/>
                <a:ea typeface="游明朝 Demibold"/>
                <a:cs typeface="游明朝 Demibold"/>
              </a:rPr>
              <a:t>取材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520440"/>
            <a:ext cx="2148840" cy="1737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はやぶさは7年かけて
イトカワから
帰ってきた
作品名 25143 の由来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99232" y="3794760"/>
            <a:ext cx="45720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lnSpc>
                <a:spcPct val="125000"/>
              </a:lnSpc>
            </a:pPr>
            <a:r>
              <a:rPr sz="2600" b="0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29000" y="2788920"/>
            <a:ext cx="2468880" cy="2514600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0" y="2926080"/>
            <a:ext cx="2103120" cy="502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0">
                <a:solidFill>
                  <a:srgbClr val="E2B867"/>
                </a:solidFill>
                <a:latin typeface="游明朝 Demibold"/>
                <a:ea typeface="游明朝 Demibold"/>
                <a:cs typeface="游明朝 Demibold"/>
              </a:rPr>
              <a:t>メンター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0" y="3520440"/>
            <a:ext cx="2148840" cy="1737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自分を後回しにして
やりたかったことを
置き去りにしてきた人に
出会ってきた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79592" y="3794760"/>
            <a:ext cx="45720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lnSpc>
                <a:spcPct val="125000"/>
              </a:lnSpc>
            </a:pPr>
            <a:r>
              <a:rPr sz="2600" b="0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09359" y="2788920"/>
            <a:ext cx="2468880" cy="2514600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 w="15875">
            <a:solidFill>
              <a:srgbClr val="E2B86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37959" y="2926080"/>
            <a:ext cx="2103120" cy="502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0">
                <a:solidFill>
                  <a:srgbClr val="E2B867"/>
                </a:solidFill>
                <a:latin typeface="游明朝 Demibold"/>
                <a:ea typeface="游明朝 Demibold"/>
                <a:cs typeface="游明朝 Demibold"/>
              </a:rPr>
              <a:t>わたし自身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37959" y="3520440"/>
            <a:ext cx="2148840" cy="1737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F2EEE6"/>
                </a:solidFill>
                <a:latin typeface="メイリオ"/>
                <a:ea typeface="メイリオ"/>
                <a:cs typeface="メイリオ"/>
              </a:rPr>
              <a:t>作っている途中で
立ち止まる側になった
それでも
あきらめない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59952" y="3794760"/>
            <a:ext cx="45720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lnSpc>
                <a:spcPct val="125000"/>
              </a:lnSpc>
            </a:pPr>
            <a:r>
              <a:rPr sz="2600" b="0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189719" y="2788920"/>
            <a:ext cx="2468880" cy="2514600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418319" y="2926080"/>
            <a:ext cx="2103120" cy="502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0">
                <a:solidFill>
                  <a:srgbClr val="E2B867"/>
                </a:solidFill>
                <a:latin typeface="游明朝 Demibold"/>
                <a:ea typeface="游明朝 Demibold"/>
                <a:cs typeface="游明朝 Demibold"/>
              </a:rPr>
              <a:t>研究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18319" y="3520440"/>
            <a:ext cx="2148840" cy="1737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過去の自分の言葉に
出会い直すと
次の一歩を
選びやすくなる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5577840"/>
            <a:ext cx="111099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0">
                <a:solidFill>
                  <a:srgbClr val="E2B867"/>
                </a:solidFill>
                <a:latin typeface="游明朝 Demibold"/>
                <a:ea typeface="游明朝 Demibold"/>
                <a:cs typeface="游明朝 Demibold"/>
              </a:rPr>
              <a:t>だから、まず自分のために作った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03  </a:t>
            </a: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Solution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6424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0">
                <a:solidFill>
                  <a:srgbClr val="F2EEE6"/>
                </a:solidFill>
                <a:latin typeface="游明朝 Demibold"/>
                <a:ea typeface="游明朝 Demibold"/>
                <a:cs typeface="游明朝 Demibold"/>
              </a:rPr>
              <a:t>忘れないように星に預け、やりたくなったら自分で呼び戻す</a:t>
            </a:r>
          </a:p>
        </p:txBody>
      </p:sp>
      <p:pic>
        <p:nvPicPr>
          <p:cNvPr id="4" name="Picture 3" descr="02-deposi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1691640"/>
            <a:ext cx="1521111" cy="32918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5074920"/>
            <a:ext cx="23774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25000"/>
              </a:lnSpc>
            </a:pPr>
            <a:r>
              <a:rPr sz="1900" b="0">
                <a:solidFill>
                  <a:srgbClr val="E2B867"/>
                </a:solidFill>
                <a:latin typeface="游明朝 Demibold"/>
                <a:ea typeface="游明朝 Demibold"/>
                <a:cs typeface="游明朝 Demibold"/>
              </a:rPr>
              <a:t>預ける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5532120"/>
            <a:ext cx="237744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12字で、星に預ける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80360" y="3063240"/>
            <a:ext cx="45720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lnSpc>
                <a:spcPct val="125000"/>
              </a:lnSpc>
            </a:pPr>
            <a:r>
              <a:rPr sz="2600" b="0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→</a:t>
            </a:r>
          </a:p>
        </p:txBody>
      </p:sp>
      <p:pic>
        <p:nvPicPr>
          <p:cNvPr id="8" name="Picture 7" descr="max-hom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49039" y="1691640"/>
            <a:ext cx="1608513" cy="32918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429000" y="5074920"/>
            <a:ext cx="23774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25000"/>
              </a:lnSpc>
            </a:pPr>
            <a:r>
              <a:rPr sz="1900" b="0">
                <a:solidFill>
                  <a:srgbClr val="E2B867"/>
                </a:solidFill>
                <a:latin typeface="游明朝 Demibold"/>
                <a:ea typeface="游明朝 Demibold"/>
                <a:cs typeface="游明朝 Demibold"/>
              </a:rPr>
              <a:t>待つ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29000" y="5532120"/>
            <a:ext cx="237744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本物の星空に灯る
期限も通知もない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06440" y="3063240"/>
            <a:ext cx="45720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lnSpc>
                <a:spcPct val="125000"/>
              </a:lnSpc>
            </a:pPr>
            <a:r>
              <a:rPr sz="2600" b="0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→</a:t>
            </a:r>
          </a:p>
        </p:txBody>
      </p:sp>
      <p:pic>
        <p:nvPicPr>
          <p:cNvPr id="12" name="Picture 11" descr="08-car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75120" y="1691640"/>
            <a:ext cx="1521111" cy="329184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355080" y="5074920"/>
            <a:ext cx="23774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25000"/>
              </a:lnSpc>
            </a:pPr>
            <a:r>
              <a:rPr sz="1900" b="0">
                <a:solidFill>
                  <a:srgbClr val="E2B867"/>
                </a:solidFill>
                <a:latin typeface="游明朝 Demibold"/>
                <a:ea typeface="游明朝 Demibold"/>
                <a:cs typeface="游明朝 Demibold"/>
              </a:rPr>
              <a:t>呼び戻す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55080" y="5532120"/>
            <a:ext cx="237744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やりたくなったら
星に触れる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32520" y="3063240"/>
            <a:ext cx="45720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lnSpc>
                <a:spcPct val="125000"/>
              </a:lnSpc>
            </a:pPr>
            <a:r>
              <a:rPr sz="2600" b="0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→</a:t>
            </a:r>
          </a:p>
        </p:txBody>
      </p:sp>
      <p:pic>
        <p:nvPicPr>
          <p:cNvPr id="16" name="Picture 15" descr="10b-receipt-step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601200" y="1691640"/>
            <a:ext cx="1521111" cy="329184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9281160" y="5074920"/>
            <a:ext cx="23774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25000"/>
              </a:lnSpc>
            </a:pPr>
            <a:r>
              <a:rPr sz="1900" b="0">
                <a:solidFill>
                  <a:srgbClr val="E2B867"/>
                </a:solidFill>
                <a:latin typeface="游明朝 Demibold"/>
                <a:ea typeface="游明朝 Demibold"/>
                <a:cs typeface="游明朝 Demibold"/>
              </a:rPr>
              <a:t>一歩を書く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81160" y="5532120"/>
            <a:ext cx="237744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帰還票に
最初の小さな一歩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04  </a:t>
            </a: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Demo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6424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0">
                <a:solidFill>
                  <a:srgbClr val="F2EEE6"/>
                </a:solidFill>
                <a:latin typeface="游明朝 Demibold"/>
                <a:ea typeface="游明朝 Demibold"/>
                <a:cs typeface="游明朝 Demibold"/>
              </a:rPr>
              <a:t>デモ：30日前に預けた願いを、呼び戻す</a:t>
            </a:r>
          </a:p>
        </p:txBody>
      </p:sp>
      <p:pic>
        <p:nvPicPr>
          <p:cNvPr id="4" name="demo-16x9.mp4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1463040" y="1417320"/>
            <a:ext cx="9235440" cy="519379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463040" y="6537960"/>
            <a:ext cx="923544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▶ クリックで再生（このPCの中だけのデータで撮影。見本の願い入り）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05  </a:t>
            </a: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Care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6424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0">
                <a:solidFill>
                  <a:srgbClr val="F2EEE6"/>
                </a:solidFill>
                <a:latin typeface="游明朝 Demibold"/>
                <a:ea typeface="游明朝 Demibold"/>
                <a:cs typeface="游明朝 Demibold"/>
              </a:rPr>
              <a:t>急かさない。比べない。晒さない。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783080"/>
            <a:ext cx="2606040" cy="4480560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011680"/>
            <a:ext cx="21945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0">
                <a:solidFill>
                  <a:srgbClr val="E2B867"/>
                </a:solidFill>
                <a:latin typeface="游明朝 Demibold"/>
                <a:ea typeface="游明朝 Demibold"/>
                <a:cs typeface="游明朝 Demibold"/>
              </a:rPr>
              <a:t>急かさない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743200"/>
            <a:ext cx="2240280" cy="3383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70000"/>
              </a:lnSpc>
            </a:pPr>
            <a:r>
              <a:rPr sz="13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期限・通知・連続日数なし
何もしなくても
星は暗くならない
今でなければ
「もう少し預ける」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37560" y="1783080"/>
            <a:ext cx="2606040" cy="4480560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566160" y="2011680"/>
            <a:ext cx="21945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0">
                <a:solidFill>
                  <a:srgbClr val="E2B867"/>
                </a:solidFill>
                <a:latin typeface="游明朝 Demibold"/>
                <a:ea typeface="游明朝 Demibold"/>
                <a:cs typeface="游明朝 Demibold"/>
              </a:rPr>
              <a:t>比べない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66160" y="2743200"/>
            <a:ext cx="2240280" cy="3383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70000"/>
              </a:lnSpc>
            </a:pPr>
            <a:r>
              <a:rPr sz="13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人と比べる数を持たない
一歩ごとに
自分の星だけが
明るくなる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26479" y="1783080"/>
            <a:ext cx="2606040" cy="4480560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79" y="2011680"/>
            <a:ext cx="21945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0">
                <a:solidFill>
                  <a:srgbClr val="E2B867"/>
                </a:solidFill>
                <a:latin typeface="游明朝 Demibold"/>
                <a:ea typeface="游明朝 Demibold"/>
                <a:cs typeface="游明朝 Demibold"/>
              </a:rPr>
              <a:t>晒さない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79" y="2743200"/>
            <a:ext cx="2240280" cy="3383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70000"/>
              </a:lnSpc>
            </a:pPr>
            <a:r>
              <a:rPr sz="13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初めは
わたしの星空だけ
みんなの星空は
言葉ではなく光
つらい言葉には
相談先を案内</a:t>
            </a:r>
          </a:p>
        </p:txBody>
      </p:sp>
      <p:pic>
        <p:nvPicPr>
          <p:cNvPr id="13" name="Picture 12" descr="12-everyo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0" y="1783080"/>
            <a:ext cx="2070401" cy="448056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732520" y="6309360"/>
            <a:ext cx="3108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みんなの星空：ほかの人の願いは光だけ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06  </a:t>
            </a: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Technology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6424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0">
                <a:solidFill>
                  <a:srgbClr val="F2EEE6"/>
                </a:solidFill>
                <a:latin typeface="游明朝 Demibold"/>
                <a:ea typeface="游明朝 Demibold"/>
                <a:cs typeface="游明朝 Demibold"/>
              </a:rPr>
              <a:t>AI に書かせ、何を作るかは自分で決め、数で確かめた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737360"/>
            <a:ext cx="530352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作ってから、やめたもの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148840"/>
            <a:ext cx="5303520" cy="658368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148840"/>
            <a:ext cx="2651760" cy="6583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F2EEE6"/>
                </a:solidFill>
                <a:latin typeface="メイリオ"/>
                <a:ea typeface="メイリオ"/>
                <a:cs typeface="メイリオ"/>
              </a:rPr>
              <a:t>AI で願いの絵をつくる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83280" y="2148840"/>
            <a:ext cx="2377440" cy="6583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願いのイメージとずれた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926080"/>
            <a:ext cx="5303520" cy="658368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2926080"/>
            <a:ext cx="2651760" cy="6583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F2EEE6"/>
                </a:solidFill>
                <a:latin typeface="メイリオ"/>
                <a:ea typeface="メイリオ"/>
                <a:cs typeface="メイリオ"/>
              </a:rPr>
              <a:t>星座の線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83280" y="2926080"/>
            <a:ext cx="2377440" cy="6583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意味が伝わらなかった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703320"/>
            <a:ext cx="5303520" cy="658368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3703320"/>
            <a:ext cx="2651760" cy="6583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F2EEE6"/>
                </a:solidFill>
                <a:latin typeface="メイリオ"/>
                <a:ea typeface="メイリオ"/>
                <a:cs typeface="メイリオ"/>
              </a:rPr>
              <a:t>応援の信号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83280" y="3703320"/>
            <a:ext cx="2377440" cy="6583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シェアとの違いが伝わらなかった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480560"/>
            <a:ext cx="5303520" cy="658368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4480560"/>
            <a:ext cx="2651760" cy="6583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F2EEE6"/>
                </a:solidFill>
                <a:latin typeface="メイリオ"/>
                <a:ea typeface="メイリオ"/>
                <a:cs typeface="メイリオ"/>
              </a:rPr>
              <a:t>「帰す」ボタン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83280" y="4480560"/>
            <a:ext cx="2377440" cy="6583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触れれば帰る形にした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5349240"/>
            <a:ext cx="530352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本物の星空：5,080個の星を時刻と場所から計算
自動テスト 238件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1737360"/>
            <a:ext cx="530352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数で確かめてから決めた（シミュレーション）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2194560"/>
            <a:ext cx="530352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F2EEE6"/>
                </a:solidFill>
                <a:latin typeface="メイリオ"/>
                <a:ea typeface="メイリオ"/>
                <a:cs typeface="メイリオ"/>
              </a:rPr>
              <a:t>星が重なる日（1年あたり、まとめて預ける人）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2606040"/>
            <a:ext cx="457200" cy="3657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前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58000" y="2679192"/>
            <a:ext cx="3819436" cy="237744"/>
          </a:xfrm>
          <a:prstGeom prst="rect">
            <a:avLst/>
          </a:prstGeom>
          <a:solidFill>
            <a:srgbClr val="9AA3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768876" y="2606040"/>
            <a:ext cx="1463040" cy="3657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363日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3063240"/>
            <a:ext cx="457200" cy="3657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今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858000" y="3136392"/>
            <a:ext cx="45720" cy="237744"/>
          </a:xfrm>
          <a:prstGeom prst="rect">
            <a:avLst/>
          </a:prstGeom>
          <a:solidFill>
            <a:srgbClr val="E2B8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95159" y="3063240"/>
            <a:ext cx="1463040" cy="3657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0日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3611880"/>
            <a:ext cx="530352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F2EEE6"/>
                </a:solidFill>
                <a:latin typeface="メイリオ"/>
                <a:ea typeface="メイリオ"/>
                <a:cs typeface="メイリオ"/>
              </a:rPr>
              <a:t>同じ願いが続けて帰る確率（候補が2つのとき）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4023360"/>
            <a:ext cx="457200" cy="3657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前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858000" y="4096512"/>
            <a:ext cx="1920240" cy="237744"/>
          </a:xfrm>
          <a:prstGeom prst="rect">
            <a:avLst/>
          </a:prstGeom>
          <a:solidFill>
            <a:srgbClr val="9AA3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869680" y="4023360"/>
            <a:ext cx="1463040" cy="3657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50%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0" y="4480560"/>
            <a:ext cx="457200" cy="3657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今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858000" y="4553712"/>
            <a:ext cx="45720" cy="237744"/>
          </a:xfrm>
          <a:prstGeom prst="rect">
            <a:avLst/>
          </a:prstGeom>
          <a:solidFill>
            <a:srgbClr val="E2B8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995159" y="4480560"/>
            <a:ext cx="1463040" cy="3657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0%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0" y="5029200"/>
            <a:ext cx="5303520" cy="1188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旧：番号で星の場所を決め、上限30個
今：空いている席に置き、上限19個（北の星座3つの星の数）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07  </a:t>
            </a: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Distribution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6424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0">
                <a:solidFill>
                  <a:srgbClr val="F2EEE6"/>
                </a:solidFill>
                <a:latin typeface="游明朝 Demibold"/>
                <a:ea typeface="游明朝 Demibold"/>
                <a:cs typeface="游明朝 Demibold"/>
              </a:rPr>
              <a:t>展示で出会い、紙で持ち帰り、アプリで続く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783080"/>
            <a:ext cx="3291840" cy="2423160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 w="15875">
            <a:solidFill>
              <a:srgbClr val="E2B86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59" y="1965960"/>
            <a:ext cx="27432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0">
                <a:solidFill>
                  <a:srgbClr val="E2B867"/>
                </a:solidFill>
                <a:latin typeface="游明朝 Demibold"/>
                <a:ea typeface="游明朝 Demibold"/>
                <a:cs typeface="游明朝 Demibold"/>
              </a:rPr>
              <a:t>展示・支援の場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59" y="2606040"/>
            <a:ext cx="2743200" cy="1554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科学館・宇宙イベント
キャリア・復職の支援の場
QR から預ける
帰還票をその場で印刷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58768" y="2697480"/>
            <a:ext cx="45720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lnSpc>
                <a:spcPct val="125000"/>
              </a:lnSpc>
            </a:pPr>
            <a:r>
              <a:rPr sz="2600" b="0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783080"/>
            <a:ext cx="3291840" cy="2423160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63440" y="1965960"/>
            <a:ext cx="27432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0">
                <a:solidFill>
                  <a:srgbClr val="E2B867"/>
                </a:solidFill>
                <a:latin typeface="游明朝 Demibold"/>
                <a:ea typeface="游明朝 Demibold"/>
                <a:cs typeface="游明朝 Demibold"/>
              </a:rPr>
              <a:t>紙と物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63440" y="2606040"/>
            <a:ext cx="2743200" cy="1554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帰還票・ブレスレット
最初の一歩が目に入る
QR から自分の星へ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99248" y="2697480"/>
            <a:ext cx="45720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lnSpc>
                <a:spcPct val="125000"/>
              </a:lnSpc>
            </a:pPr>
            <a:r>
              <a:rPr sz="2600" b="0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0" y="1783080"/>
            <a:ext cx="3291840" cy="2423160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03920" y="1965960"/>
            <a:ext cx="27432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0">
                <a:solidFill>
                  <a:srgbClr val="E2B867"/>
                </a:solidFill>
                <a:latin typeface="游明朝 Demibold"/>
                <a:ea typeface="游明朝 Demibold"/>
                <a:cs typeface="游明朝 Demibold"/>
              </a:rPr>
              <a:t>アプリ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20" y="2606040"/>
            <a:ext cx="2743200" cy="1554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やりたくなったら
星に触れて呼び戻す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526280"/>
            <a:ext cx="1115568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F2EEE6"/>
                </a:solidFill>
                <a:latin typeface="游明朝 Demibold"/>
                <a:ea typeface="游明朝 Demibold"/>
                <a:cs typeface="游明朝 Demibold"/>
              </a:rPr>
              <a:t>個人からは取らない。場と物で成り立たせる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5029200"/>
            <a:ext cx="3611880" cy="1234440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5120640"/>
            <a:ext cx="3200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場への導入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5532120"/>
            <a:ext cx="329184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科学館・自治体・支援の場に
体験一式を期間で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89120" y="5029200"/>
            <a:ext cx="3611880" cy="1234440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17720" y="5120640"/>
            <a:ext cx="3200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持ち帰る物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17720" y="5532120"/>
            <a:ext cx="329184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カプセル（ブレスレット）・帰還票の台紙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29600" y="5029200"/>
            <a:ext cx="3611880" cy="1234440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458200" y="5120640"/>
            <a:ext cx="3200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共創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58200" y="5532120"/>
            <a:ext cx="329184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アーティストと、帰還票の絵柄・会場の演出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08  </a:t>
            </a: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Ask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6424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0">
                <a:solidFill>
                  <a:srgbClr val="F2EEE6"/>
                </a:solidFill>
                <a:latin typeface="游明朝 Demibold"/>
                <a:ea typeface="游明朝 Demibold"/>
                <a:cs typeface="游明朝 Demibold"/>
              </a:rPr>
              <a:t>やりたかったことを、置き去りにしない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783080"/>
            <a:ext cx="7498079" cy="1051560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 w="15875">
            <a:solidFill>
              <a:srgbClr val="E2B86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783080"/>
            <a:ext cx="2103120" cy="10515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0">
                <a:solidFill>
                  <a:srgbClr val="F2EEE6"/>
                </a:solidFill>
                <a:latin typeface="游明朝 Demibold"/>
                <a:ea typeface="游明朝 Demibold"/>
                <a:cs typeface="游明朝 Demibold"/>
              </a:rPr>
              <a:t>展示する場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26080" y="1783080"/>
            <a:ext cx="4937760" cy="10515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まず1回。科学館・プラネタリウム・自治体のイベント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3017520"/>
            <a:ext cx="7498079" cy="1051560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3017520"/>
            <a:ext cx="2103120" cy="10515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0">
                <a:solidFill>
                  <a:srgbClr val="F2EEE6"/>
                </a:solidFill>
                <a:latin typeface="游明朝 Demibold"/>
                <a:ea typeface="游明朝 Demibold"/>
                <a:cs typeface="游明朝 Demibold"/>
              </a:rPr>
              <a:t>支える場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80" y="3017520"/>
            <a:ext cx="4937760" cy="10515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次に。キャリアや復職を支える人事・支援者のもとで試す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4251960"/>
            <a:ext cx="7498079" cy="1051560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4251960"/>
            <a:ext cx="2103120" cy="10515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0">
                <a:solidFill>
                  <a:srgbClr val="F2EEE6"/>
                </a:solidFill>
                <a:latin typeface="游明朝 Demibold"/>
                <a:ea typeface="游明朝 Demibold"/>
                <a:cs typeface="游明朝 Demibold"/>
              </a:rPr>
              <a:t>つくる方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26080" y="4251960"/>
            <a:ext cx="4937760" cy="10515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星空や帰還票の絵柄・映像を一緒に描くアーティスト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5623560"/>
            <a:ext cx="7498079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わかっていること：公開2日で、端末12台ほどが願いを預けた（人数ではない）。
これから展示と支援の場で、持ち帰った人と、また開いた人を数える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595360" y="1783080"/>
            <a:ext cx="3108960" cy="4206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qr-s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23960" y="1965960"/>
            <a:ext cx="2651760" cy="265176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8595360" y="4709160"/>
            <a:ext cx="3108960" cy="1188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>
                <a:solidFill>
                  <a:srgbClr val="0B1020"/>
                </a:solidFill>
                <a:latin typeface="メイリオ"/>
                <a:ea typeface="メイリオ"/>
                <a:cs typeface="メイリオ"/>
              </a:rPr>
              <a:t>いま、ひとつ預けられます</a:t>
            </a:r>
          </a:p>
          <a:p>
            <a:pPr algn="ctr">
              <a:lnSpc>
                <a:spcPct val="125000"/>
              </a:lnSpc>
            </a:pPr>
            <a:r>
              <a:rPr sz="1100" b="0">
                <a:solidFill>
                  <a:srgbClr val="0B1020"/>
                </a:solidFill>
                <a:latin typeface="メイリオ"/>
                <a:ea typeface="メイリオ"/>
                <a:cs typeface="メイリオ"/>
              </a:rPr>
              <a:t>morune-25143.morune-25143.workers.dev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