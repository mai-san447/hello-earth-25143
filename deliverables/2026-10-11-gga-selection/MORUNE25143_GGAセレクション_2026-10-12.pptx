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【0:00–0:15】出場目的を最初に宣言する</a:t>
            </a:r>
          </a:p>
          <a:p>
            <a:r>
              <a:t>・MORUNE 25143 の中村です。</a:t>
            </a:r>
          </a:p>
          <a:p>
            <a:r>
              <a:t>・今日の出場目的は、起業です。この体験を、展示と、働く人を支える場で届ける仲間を探しています。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【0:15–0:55】</a:t>
            </a:r>
          </a:p>
          <a:p>
            <a:r>
              <a:t>・わたしは普段、人材開発のシンクタンクで働いています。二人の子どもを育てながら働き、副業では女性の社外メンターや、就職活動の支援をしています。</a:t>
            </a:r>
          </a:p>
          <a:p>
            <a:r>
              <a:t>・支援の場で、何度も同じ言葉を聞いてきました。「自分が本当は何をやりたいのか、わからないんです」。</a:t>
            </a:r>
          </a:p>
          <a:p>
            <a:r>
              <a:t>・子どもが生まれてから、家族や仕事を優先して、自分を後回しにしてきた年月がありました。「やってみたい」のすぐ後に、「時間がないから」「私には無理だから」が続きます。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【0:55–1:20】</a:t>
            </a:r>
          </a:p>
          <a:p>
            <a:r>
              <a:t>・これは、女性だけの問題でしょうか。家事やケアと仕事の両立で、やりたいことを後回しにするのは、誰にでも起こります。</a:t>
            </a:r>
          </a:p>
          <a:p>
            <a:r>
              <a:t>・ただ、その負担は女性に偏っています。小さな子どもがいる家庭で、家事と育児の時間は、1日に妻が7時間28分、夫が1時間54分です。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【1:20–1:45】</a:t>
            </a:r>
          </a:p>
          <a:p>
            <a:r>
              <a:t>・時間ができるのを待つうちに、やりたかったことは忘れられていきます。わたしは大学院で、省察支援、止まってしまったふりかえりを、もう一度始めるための足場を研究しました。</a:t>
            </a:r>
          </a:p>
          <a:p>
            <a:r>
              <a:t>・手がかりは小さく。仕組みは軽く。迷ったままでいい。人とのつながりの中で。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【1:45–2:20】</a:t>
            </a:r>
          </a:p>
          <a:p>
            <a:r>
              <a:t>・この体験の形に、はやぶさの帰還を選びました。前職で、プロジェクトマネージャーの川口淳一郎先生を取材しました。そこで出会ったのが、「高い塔を建てなければ、新たな水平線は見えてこない」という言葉です。</a:t>
            </a:r>
          </a:p>
          <a:p>
            <a:r>
              <a:t>・だからこの作品では、いったん手放した「いつかやりたいこと」を、消えた願いではなく、遠い星に預けたものと考えます。はやぶさのカプセルのように、願いの方から、一つずつ帰ってくる。（間）見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【2:20–4:30】動画を再生する（2分10秒）。（）は動画の中の時間</a:t>
            </a:r>
          </a:p>
          <a:p>
            <a:r>
              <a:t>・（0:00 開く）これは、今この場所の、本物の北の空です。</a:t>
            </a:r>
          </a:p>
          <a:p>
            <a:r>
              <a:t>・（0:19 預ける）たとえば、「ギターをもう一度」。12字で星に預けます。初めは、自分の星空にだけ灯ります。期限も通知もありません。何もしなくても、星は暗くなりません。</a:t>
            </a:r>
          </a:p>
          <a:p>
            <a:r>
              <a:t>・（0:43 呼び戻す）30日前に預けた「天文台で土星の輪を見る」。やりたくなったら、その星に触れます。カプセルが地球に帰ってきます。</a:t>
            </a:r>
          </a:p>
          <a:p>
            <a:r>
              <a:t>・（0:58 選ぶ）「30日ぶりに帰ってきました」。受け取るか、もう少し預けるか、手放すか。迷ったままでいい。</a:t>
            </a:r>
          </a:p>
          <a:p>
            <a:r>
              <a:t>・（1:09 帰還票）受け取ると、帰還票が現像されます。最初の小さな一歩を1つ書きます。「土曜の観望会を調べる」。</a:t>
            </a:r>
          </a:p>
          <a:p>
            <a:r>
              <a:t>・（1:22 実物）展示では、これが紙で出てきます。（帰還票とブレスレットを手に持って見せる）願いを、家まで連れて帰れます。</a:t>
            </a:r>
          </a:p>
          <a:p>
            <a:r>
              <a:t>・（1:36 みんなの星空）みんなの星空です。ほかの人の願いは、言葉ではなく光で灯っています。ひとりじゃない、と感じられます。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【4:30–5:00】</a:t>
            </a:r>
          </a:p>
          <a:p>
            <a:r>
              <a:t>・コードは Claude と Codex に書かせ、互いにレビューさせました。何を作って何をやめるかは、わたしが決めました。AI で願いの絵をつくる機能、星座の線、応援の信号は、作って試してからやめました。</a:t>
            </a:r>
          </a:p>
          <a:p>
            <a:r>
              <a:t>・決めるときは数で確かめました。願いを30個まで置ける作りでは、1年のうち360日ほど、星が重なる日がありました。19の席にして0日にしました。同じ願いが続けて帰る確率も、50%から0%にしました。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【5:00–5:20】</a:t>
            </a:r>
          </a:p>
          <a:p>
            <a:r>
              <a:t>・入口は展示と、キャリアや復職を支える場です。その場で帰還票を印刷し、紙とブレスレットが願いを家まで連れて帰ります。</a:t>
            </a:r>
          </a:p>
          <a:p>
            <a:r>
              <a:t>・個人からはお金を取りません。場への導入、持ち帰る物、アーティストとの共創で成り立たせます。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【5:20–5:55】</a:t>
            </a:r>
          </a:p>
          <a:p>
            <a:r>
              <a:t>・わたし自身も、この作品を作っている途中で、立ち止まる側になりました。（間）それでも、やりたいことは、あきらめない。</a:t>
            </a:r>
          </a:p>
          <a:p>
            <a:r>
              <a:t>・やりたかったことを、置き去りにしない。それを、一人ではなく、続けられる形にしたい。</a:t>
            </a:r>
          </a:p>
          <a:p>
            <a:r>
              <a:t>・まず1回、展示させてください。科学館、プラネタリウム、自治体のイベントの方。</a:t>
            </a:r>
          </a:p>
          <a:p>
            <a:r>
              <a:t>・次に、キャリアや復職を支える場で試させてください。人事の方、キャリア支援をしている方。</a:t>
            </a:r>
          </a:p>
          <a:p>
            <a:r>
              <a:t>・QR から、今ひとつ預けられます。ありがとうございました。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2B867"/>
                </a:solidFill>
                <a:latin typeface="Cormorant Garamond"/>
                <a:ea typeface="Cormorant Garamond"/>
                <a:cs typeface="Cormorant Garamond"/>
              </a:rPr>
              <a:t>LEAVE YOUR WISH WITH THE STARS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658368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やりたいことを</a:t>
            </a:r>
          </a:p>
          <a:p>
            <a:pPr algn="l">
              <a:lnSpc>
                <a:spcPct val="115000"/>
              </a:lnSpc>
            </a:pPr>
            <a:r>
              <a:rPr sz="4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星に預けておく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37560"/>
            <a:ext cx="6400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MORUNE </a:t>
            </a:r>
            <a:r>
              <a:rPr sz="24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25143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206240"/>
            <a:ext cx="6583680" cy="137160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297680"/>
            <a:ext cx="61264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出場目的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663440"/>
            <a:ext cx="612648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起業（スモールビジネス）</a:t>
            </a:r>
          </a:p>
          <a:p>
            <a:pPr algn="l">
              <a:lnSpc>
                <a:spcPct val="13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この体験を、展示と支援の場で届ける仲間を探しています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8932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中村 舞衣子　G's ACADEMY 卒業制作</a:t>
            </a:r>
          </a:p>
        </p:txBody>
      </p:sp>
      <p:pic>
        <p:nvPicPr>
          <p:cNvPr id="9" name="Picture 8" descr="max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320040"/>
            <a:ext cx="3038302" cy="6217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01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Voice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支援の場で、何度も聞いてきた言葉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109960" cy="91440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274320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中村 舞衣子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1600200"/>
            <a:ext cx="8138160" cy="9144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人材開発のシンクタンク勤務 ／ 二人の子どもを育てながら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社外女性メンター・就職活動の支援 ／ 大学院で省察支援を研究（JSET 2026）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17520"/>
            <a:ext cx="10515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「自分が本当は何をやりたいのか、わからないんです」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20624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「やってみたい」　→　「時間がないから」「私には無理だから」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12064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背景にあるのは、子どもが生まれてから、家族や仕事を優先して自分を後回しにしてきた年月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02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誰にでも起こる。ただ、負担は女性に偏っている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6歳未満の子どもがいる世帯の家事関連時間（1日あたり）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377440"/>
            <a:ext cx="5486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妻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20" y="2487168"/>
            <a:ext cx="8229600" cy="347472"/>
          </a:xfrm>
          <a:prstGeom prst="rect">
            <a:avLst/>
          </a:prstGeom>
          <a:solidFill>
            <a:srgbClr val="E2B8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55480" y="2377440"/>
            <a:ext cx="1828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7時間28分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5486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夫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3310128"/>
            <a:ext cx="2094139" cy="347472"/>
          </a:xfrm>
          <a:prstGeom prst="rect">
            <a:avLst/>
          </a:prstGeom>
          <a:solidFill>
            <a:srgbClr val="9AA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20019" y="3200400"/>
            <a:ext cx="1828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1時間54分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77639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出典：総務省「令和3年社会生活基本調査」（夫婦と子どもの世帯、週全体平均）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572000"/>
            <a:ext cx="3291840" cy="160020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4681728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時間がない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5212080"/>
            <a:ext cx="27432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思い込みではない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58768" y="512064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4572000"/>
            <a:ext cx="3291840" cy="160020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4681728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すぐには増えない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5212080"/>
            <a:ext cx="27432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待つしかない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99248" y="512064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4572000"/>
            <a:ext cx="3291840" cy="160020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0" y="4681728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忘れていく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5212080"/>
            <a:ext cx="27432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やりたかったことが
置き去りになる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03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Research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止まったふりかえりを、もう一度始めるための4つの足場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省察の再起動を支える設計要件（大学院・JSET 2026）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0" y="1691640"/>
            <a:ext cx="45720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MORUNE では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5577840" cy="84124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03120"/>
            <a:ext cx="301752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手がかりは小さく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103120"/>
            <a:ext cx="219456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最小限の手がかり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2249424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2103120"/>
            <a:ext cx="4983480" cy="84124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2103120"/>
            <a:ext cx="457200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願いは12字だけ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090672"/>
            <a:ext cx="5577840" cy="84124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090672"/>
            <a:ext cx="301752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仕組みは軽く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090672"/>
            <a:ext cx="219456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軽量な設計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3236976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3090672"/>
            <a:ext cx="4983480" cy="84124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03720" y="3090672"/>
            <a:ext cx="457200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預けるだけ。期限も通知もない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78224"/>
            <a:ext cx="5577840" cy="84124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078224"/>
            <a:ext cx="301752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迷ったままでいい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4078224"/>
            <a:ext cx="219456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両義性の前提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4224528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0" y="4078224"/>
            <a:ext cx="4983480" cy="84124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03720" y="4078224"/>
            <a:ext cx="457200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受け取る／もう少し預ける／手放す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065776"/>
            <a:ext cx="5577840" cy="84124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065776"/>
            <a:ext cx="301752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人とのつながりの中で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5065776"/>
            <a:ext cx="219456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関係性の中での支援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521208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0" y="5065776"/>
            <a:ext cx="4983480" cy="84124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5065776"/>
            <a:ext cx="4572000" cy="8412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みんなの星空・支援の場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9AA3B5"/>
                </a:solidFill>
                <a:latin typeface="游明朝 Demibold"/>
                <a:ea typeface="游明朝 Demibold"/>
                <a:cs typeface="游明朝 Demibold"/>
              </a:rPr>
              <a:t>急かさない。比べない。晒さない。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04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Metaphor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消えた願いではなく、遠い星に預けたもの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11109960" cy="182880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42416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「高い塔を建てなければ、新たな水平線は見えてこない」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424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川口淳一郎（はやぶさ プロジェクトマネージャー）　前職の編集部で取材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977639"/>
            <a:ext cx="5303520" cy="20116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160520"/>
            <a:ext cx="45720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はやぶさ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800600"/>
            <a:ext cx="47548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7年かけて、小惑星 25143 イトカワから
カプセルを持ち帰った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470916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79" y="3977639"/>
            <a:ext cx="5303520" cy="201168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19" y="4160520"/>
            <a:ext cx="45720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MORUNE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19" y="4800600"/>
            <a:ext cx="47548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いったん手放した「いつかやりたいこと」を
星に預け、願いの方から一つずつ帰ってくる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作品名の 25143 は、イトカワの小惑星番号から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05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デモ：預けて、待って、呼び戻す</a:t>
            </a:r>
          </a:p>
        </p:txBody>
      </p:sp>
      <p:pic>
        <p:nvPicPr>
          <p:cNvPr id="4" name="demo-16x9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463040" y="1417320"/>
            <a:ext cx="9235440" cy="51937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63040" y="6537960"/>
            <a:ext cx="92354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▶ クリックで再生・2分10秒（このPCの中だけのデータで撮影。見本の願い入り）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06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AI に書かせ、何を作るかは自分で決め、数で確かめた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作ってから、やめたもの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4884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26517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AI で願いの絵をつくる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2148840"/>
            <a:ext cx="23774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願いのイメージとずれた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92608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26517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星座の線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926080"/>
            <a:ext cx="23774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意味が伝わらなかった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0332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703320"/>
            <a:ext cx="26517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応援の信号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3703320"/>
            <a:ext cx="23774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シェアとの違いが伝わらなかった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80560"/>
            <a:ext cx="5303520" cy="658368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480560"/>
            <a:ext cx="265176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「帰す」ボタン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4480560"/>
            <a:ext cx="237744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触れれば帰る形にした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349240"/>
            <a:ext cx="5303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本物の星空：5,080個の星を時刻と場所から計算
自動テスト 238件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173736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数で確かめてから決めた（シミュレーション）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19456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星が重なる日（1年あたり、まとめて預ける人）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606040"/>
            <a:ext cx="4572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2679192"/>
            <a:ext cx="3819436" cy="237744"/>
          </a:xfrm>
          <a:prstGeom prst="rect">
            <a:avLst/>
          </a:prstGeom>
          <a:solidFill>
            <a:srgbClr val="9AA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768876" y="2606040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363日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063240"/>
            <a:ext cx="4572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0" y="3136392"/>
            <a:ext cx="45720" cy="237744"/>
          </a:xfrm>
          <a:prstGeom prst="rect">
            <a:avLst/>
          </a:prstGeom>
          <a:solidFill>
            <a:srgbClr val="E2B8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95159" y="3063240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61188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2EEE6"/>
                </a:solidFill>
                <a:latin typeface="メイリオ"/>
                <a:ea typeface="メイリオ"/>
                <a:cs typeface="メイリオ"/>
              </a:rPr>
              <a:t>同じ願いが続けて帰る確率（候補が2つのとき）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023360"/>
            <a:ext cx="4572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前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0" y="4096512"/>
            <a:ext cx="1920240" cy="237744"/>
          </a:xfrm>
          <a:prstGeom prst="rect">
            <a:avLst/>
          </a:prstGeom>
          <a:solidFill>
            <a:srgbClr val="9AA3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69680" y="4023360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50%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480560"/>
            <a:ext cx="4572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今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0" y="4553712"/>
            <a:ext cx="45720" cy="237744"/>
          </a:xfrm>
          <a:prstGeom prst="rect">
            <a:avLst/>
          </a:prstGeom>
          <a:solidFill>
            <a:srgbClr val="E2B8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95159" y="4480560"/>
            <a:ext cx="14630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029200"/>
            <a:ext cx="530352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旧：番号で星の場所を決め、上限30個
今：空いている席に置き、上限19個（北の星座3つの星の数）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07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展示で出会い、紙で持ち帰り、アプリで続く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3291840" cy="24231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96596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展示・支援の場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606040"/>
            <a:ext cx="27432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科学館・宇宙イベント
キャリア・復職の支援の場
QR から預ける
帰還票をその場で印刷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768" y="269748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83080"/>
            <a:ext cx="3291840" cy="24231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96596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紙と物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606040"/>
            <a:ext cx="27432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帰還票・ブレスレット
最初の一歩が目に入る
QR から自分の星へ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9248" y="2697480"/>
            <a:ext cx="457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783080"/>
            <a:ext cx="3291840" cy="24231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1965960"/>
            <a:ext cx="2743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2B867"/>
                </a:solidFill>
                <a:latin typeface="游明朝 Demibold"/>
                <a:ea typeface="游明朝 Demibold"/>
                <a:cs typeface="游明朝 Demibold"/>
              </a:rPr>
              <a:t>アプリ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06040"/>
            <a:ext cx="27432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やりたくなったら
星に触れて呼び戻す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526280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個人からは取らない。場と物で成り立たせる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02920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120640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場への導入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32918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科学館・自治体・支援の場に
体験一式を期間で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502920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7720" y="5120640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持ち帰る物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5532120"/>
            <a:ext cx="32918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カプセル（ブレスレット）・帰還票の台紙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5029200"/>
            <a:ext cx="3611880" cy="123444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58200" y="5120640"/>
            <a:ext cx="3200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共創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5532120"/>
            <a:ext cx="32918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アーティストと、帰還票の絵柄・会場の演出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2B867"/>
                </a:solidFill>
                <a:latin typeface="メイリオ"/>
                <a:ea typeface="メイリオ"/>
                <a:cs typeface="メイリオ"/>
              </a:rPr>
              <a:t>08  </a:t>
            </a: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やりたかったことを、置き去りにしない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7498079" cy="1051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 w="15875">
            <a:solidFill>
              <a:srgbClr val="E2B8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2103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展示する場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783080"/>
            <a:ext cx="493776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まず1回。科学館・プラネタリウム・自治体のイベント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017520"/>
            <a:ext cx="7498079" cy="1051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017520"/>
            <a:ext cx="2103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支える場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3017520"/>
            <a:ext cx="493776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次に。キャリアや復職を支える人事・支援者のもとで試す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251960"/>
            <a:ext cx="7498079" cy="1051560"/>
          </a:xfrm>
          <a:prstGeom prst="roundRect">
            <a:avLst>
              <a:gd name="adj" fmla="val 8000"/>
            </a:avLst>
          </a:prstGeom>
          <a:solidFill>
            <a:srgbClr val="161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251960"/>
            <a:ext cx="210312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2EEE6"/>
                </a:solidFill>
                <a:latin typeface="游明朝 Demibold"/>
                <a:ea typeface="游明朝 Demibold"/>
                <a:cs typeface="游明朝 Demibold"/>
              </a:rPr>
              <a:t>つくる方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4251960"/>
            <a:ext cx="493776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星空や帰還票の絵柄・映像を一緒に描くアーティスト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623560"/>
            <a:ext cx="7498079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A3B5"/>
                </a:solidFill>
                <a:latin typeface="メイリオ"/>
                <a:ea typeface="メイリオ"/>
                <a:cs typeface="メイリオ"/>
              </a:rPr>
              <a:t>わかっていること：公開2日で、端末12台ほどが願いを預けた（人数ではない）。
これから展示と支援の場で、持ち帰った人と、また開いた人を数える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0" y="1783080"/>
            <a:ext cx="310896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qr-s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3960" y="1965960"/>
            <a:ext cx="2651760" cy="2651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595360" y="4709160"/>
            <a:ext cx="310896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0B1020"/>
                </a:solidFill>
                <a:latin typeface="メイリオ"/>
                <a:ea typeface="メイリオ"/>
                <a:cs typeface="メイリオ"/>
              </a:rPr>
              <a:t>いま、ひとつ預けられます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0B1020"/>
                </a:solidFill>
                <a:latin typeface="メイリオ"/>
                <a:ea typeface="メイリオ"/>
                <a:cs typeface="メイリオ"/>
              </a:rPr>
              <a:t>morune-25143.morune-25143.workers.dev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