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【0:00–0:10】</a:t>
            </a:r>
          </a:p>
          <a:p>
            <a:r>
              <a:t>MORUNE 25143 の中村です。</a:t>
            </a:r>
          </a:p>
          <a:p>
            <a:r>
              <a:t>今日の出場目的は、起業です。</a:t>
            </a:r>
          </a:p>
          <a:p>
            <a:r>
              <a:t>この体験を、展示と、働く人を支える場で届ける仲間を探しています。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【0:10–0:40】</a:t>
            </a:r>
          </a:p>
          <a:p>
            <a:r>
              <a:t>わたしは、二人の子どもを育てながら、人材開発のシンクタンクで働いています。</a:t>
            </a:r>
          </a:p>
          <a:p>
            <a:r>
              <a:t>副業では、女性の社外メンターや、就職活動の支援をしています。</a:t>
            </a:r>
          </a:p>
          <a:p>
            <a:r>
              <a:t>支援の場で、何度も聞く言葉があります。</a:t>
            </a:r>
          </a:p>
          <a:p>
            <a:r>
              <a:t>「自分が本当は何をやりたいのか、わからないんです」</a:t>
            </a:r>
          </a:p>
          <a:p>
            <a:r>
              <a:t>「やってみたい」のすぐ後に、「時間がないから」「私には無理だから」と続きます。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【0:40–1:00】</a:t>
            </a:r>
          </a:p>
          <a:p>
            <a:r>
              <a:t>これは、女性だけの問題でしょうか。</a:t>
            </a:r>
          </a:p>
          <a:p>
            <a:r>
              <a:t>いいえ、誰にでも起こります。</a:t>
            </a:r>
          </a:p>
          <a:p>
            <a:r>
              <a:t>ただ、負担は女性に偏っています。</a:t>
            </a:r>
          </a:p>
          <a:p>
            <a:r>
              <a:t>小さな子どもがいる家庭で、家事と育児にかける時間は、1日に、妻が7時間28分。夫が1時間54分です。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【1:00–1:20】</a:t>
            </a:r>
          </a:p>
          <a:p>
            <a:r>
              <a:t>時間ができるのを待つうちに、やりたかったことは、忘れられていきます。</a:t>
            </a:r>
          </a:p>
          <a:p>
            <a:r>
              <a:t>わたしは大学院で、省察支援、止まったふりかえりを、もう一度始めるための足場を研究しました。</a:t>
            </a:r>
          </a:p>
          <a:p>
            <a:r>
              <a:t>手がかりは、小さく。</a:t>
            </a:r>
          </a:p>
          <a:p>
            <a:r>
              <a:t>仕組みは、軽く。</a:t>
            </a:r>
          </a:p>
          <a:p>
            <a:r>
              <a:t>迷ったままで、いい。</a:t>
            </a:r>
          </a:p>
          <a:p>
            <a:r>
              <a:t>そして、人とのつながりの中で。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【1:20–1:45】</a:t>
            </a:r>
          </a:p>
          <a:p>
            <a:r>
              <a:t>この形に選んだのが、はやぶさの帰還です。</a:t>
            </a:r>
          </a:p>
          <a:p>
            <a:r>
              <a:t>前職で、川口淳一郎先生を取材しました。</a:t>
            </a:r>
          </a:p>
          <a:p>
            <a:r>
              <a:t>そこで出会ったのが、「高い塔を建てなければ、新たな水平線は見えてこない」という言葉です。</a:t>
            </a:r>
          </a:p>
          <a:p>
            <a:r>
              <a:t>いったん手放した願いを、消えたものではなく、遠い星に預けたものと考えます。</a:t>
            </a:r>
          </a:p>
          <a:p>
            <a:r>
              <a:t>そして、願いの方から、帰ってくる。</a:t>
            </a:r>
          </a:p>
          <a:p>
            <a:r>
              <a:t>（間）</a:t>
            </a:r>
          </a:p>
          <a:p>
            <a:r>
              <a:t>見てください。</a:t>
            </a:r>
          </a:p>
          <a:p>
            <a:r>
              <a:t>［送る・動画を再生］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【1:45–3:47】動画 2分02秒。［ ］の時間は動画の中の時間。話していない間は、動画に任せてよい</a:t>
            </a:r>
          </a:p>
          <a:p>
            <a:r>
              <a:t>［0:00］今この場所の、本物の北の空です。</a:t>
            </a:r>
          </a:p>
          <a:p>
            <a:r>
              <a:t>［0:19］たとえば、「ギターをもう一度」。12字で、星に預けます。</a:t>
            </a:r>
          </a:p>
          <a:p>
            <a:r>
              <a:t>期限も、通知もありません。何もしなくても、星は暗くなりません。</a:t>
            </a:r>
          </a:p>
          <a:p>
            <a:r>
              <a:t>［0:43］こちらは、30日前に預けた「天文台で土星の輪を見る」。</a:t>
            </a:r>
          </a:p>
          <a:p>
            <a:r>
              <a:t>やりたくなったら、星に触れます。</a:t>
            </a:r>
          </a:p>
          <a:p>
            <a:r>
              <a:t>……カプセルが、帰ってきました。</a:t>
            </a:r>
          </a:p>
          <a:p>
            <a:r>
              <a:t>［0:58］受け取るか。もう少し預けるか。手放すか。</a:t>
            </a:r>
          </a:p>
          <a:p>
            <a:r>
              <a:t>迷ったままで、いいんです。</a:t>
            </a:r>
          </a:p>
          <a:p>
            <a:r>
              <a:t>［1:09］受け取ると、帰還票ができます。最初の小さな一歩を、1つだけ書きます。</a:t>
            </a:r>
          </a:p>
          <a:p>
            <a:r>
              <a:t>［1:22］展示では、これが紙で出てきます。［帰還票とブレスレットを手に持って見せる］</a:t>
            </a:r>
          </a:p>
          <a:p>
            <a:r>
              <a:t>ブレスレットのカプセルに入れて、願いを家まで連れて帰れます。</a:t>
            </a:r>
          </a:p>
          <a:p>
            <a:r>
              <a:t>［1:36］そしてこれが、みんなの星空です。</a:t>
            </a:r>
          </a:p>
          <a:p>
            <a:r>
              <a:t>ほかの人の願いは、言葉ではなく、光で灯っています。</a:t>
            </a:r>
          </a:p>
          <a:p>
            <a:r>
              <a:t>ひとりじゃない、と感じられます。</a:t>
            </a:r>
          </a:p>
          <a:p>
            <a:r>
              <a:t>［動画が終わったら送る］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【3:47–4:02】</a:t>
            </a:r>
          </a:p>
          <a:p>
            <a:r>
              <a:t>コードは AI に書かせ、何を作るかは、わたしが決めて、数で確かめました。</a:t>
            </a:r>
          </a:p>
          <a:p>
            <a:r>
              <a:t>星が重なる日は、1年に360日ほどありましたが、0日にしました。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【4:02–4:17】</a:t>
            </a:r>
          </a:p>
          <a:p>
            <a:r>
              <a:t>入口は、展示と、支援の場です。</a:t>
            </a:r>
          </a:p>
          <a:p>
            <a:r>
              <a:t>帰還票とブレスレットが、願いを家まで連れて帰ります。</a:t>
            </a:r>
          </a:p>
          <a:p>
            <a:r>
              <a:t>個人からは、お金を取りません。</a:t>
            </a:r>
          </a:p>
          <a:p>
            <a:r>
              <a:t>［送る］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【4:17–4:55】</a:t>
            </a:r>
          </a:p>
          <a:p>
            <a:r>
              <a:t>最後に、わたし自身のことを、少しだけ。</a:t>
            </a:r>
          </a:p>
          <a:p>
            <a:r>
              <a:t>この作品を作っている途中で、わたしも、立ち止まる側になりました。</a:t>
            </a:r>
          </a:p>
          <a:p>
            <a:r>
              <a:t>（間）</a:t>
            </a:r>
          </a:p>
          <a:p>
            <a:r>
              <a:t>それでも、やりたいことは、あきらめません。</a:t>
            </a:r>
          </a:p>
          <a:p>
            <a:r>
              <a:t>やりたかったことを、置き去りにしない。</a:t>
            </a:r>
          </a:p>
          <a:p>
            <a:r>
              <a:t>それを、一人ではなく、続けられる形にしたい。</a:t>
            </a:r>
          </a:p>
          <a:p>
            <a:r>
              <a:t>まず1回、展示させてください。</a:t>
            </a:r>
          </a:p>
          <a:p>
            <a:r>
              <a:t>そして、キャリアや復職を支える場で、試させてください。</a:t>
            </a:r>
          </a:p>
          <a:p>
            <a:r>
              <a:t>この企画を、実装面でサポートいただける仲間も、募集しています。</a:t>
            </a:r>
          </a:p>
          <a:p>
            <a:r>
              <a:t>QR から、今ひとつ、預けられます。</a:t>
            </a:r>
          </a:p>
          <a:p>
            <a:r>
              <a:t>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2B867"/>
                </a:solidFill>
                <a:latin typeface="Cormorant Garamond"/>
                <a:ea typeface="Cormorant Garamond"/>
                <a:cs typeface="Cormorant Garamond"/>
              </a:rPr>
              <a:t>LEAVE YOUR WISH WITH THE STARS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658368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やりたいことを</a:t>
            </a:r>
          </a:p>
          <a:p>
            <a:pPr algn="l">
              <a:lnSpc>
                <a:spcPct val="115000"/>
              </a:lnSpc>
            </a:pPr>
            <a:r>
              <a:rPr sz="4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星に預けておく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37560"/>
            <a:ext cx="6400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MORUNE </a:t>
            </a:r>
            <a:r>
              <a:rPr sz="24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25143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61264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出場目的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663440"/>
            <a:ext cx="612648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起業（スモールビジネス）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この体験を、展示と支援の場で届ける仲間を探しています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中村 舞衣子　G's ACADEMY 卒業制作</a:t>
            </a:r>
          </a:p>
        </p:txBody>
      </p:sp>
      <p:pic>
        <p:nvPicPr>
          <p:cNvPr id="9" name="Picture 8" descr="max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20040"/>
            <a:ext cx="3038302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01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支援の場で、何度も聞いてきた言葉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274320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中村 舞衣子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00200"/>
            <a:ext cx="8138160" cy="9144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人材開発のシンクタンク勤務 ／ 二人の子どもを育てながら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社外女性メンター・就職活動の支援 ／ 大学院で省察支援を研究（JSET 2026）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「自分が本当は何をやりたいのか、わからないんです」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「やってみたい」　→　「時間がないから」「私には無理だから」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背景にあるのは、子どもが生まれてから、家族や仕事を優先して自分を後回しにしてきた年月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02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誰にでも起こる。ただ、負担は女性に偏っている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6歳未満の子どもがいる世帯の家事関連時間（1日あたり）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妻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487168"/>
            <a:ext cx="8229600" cy="347472"/>
          </a:xfrm>
          <a:prstGeom prst="rect">
            <a:avLst/>
          </a:prstGeom>
          <a:solidFill>
            <a:srgbClr val="E2B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237744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7時間28分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夫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310128"/>
            <a:ext cx="2094139" cy="347472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0019" y="320040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1時間54分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出典：総務省「令和3年社会生活基本調査」（夫婦と子どもの世帯、週全体平均）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3291840" cy="160020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4681728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時間がない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5212080"/>
            <a:ext cx="2743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思い込みではない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5120640"/>
            <a:ext cx="457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572000"/>
            <a:ext cx="3291840" cy="160020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681728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すぐには増えない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5212080"/>
            <a:ext cx="2743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待つしかない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5120640"/>
            <a:ext cx="457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572000"/>
            <a:ext cx="3291840" cy="160020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681728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忘れていく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212080"/>
            <a:ext cx="2743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やりたかったことが
置き去りになる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03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止まったふりかえりを、もう一度始めるための4つの足場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省察の再起動を支える設計要件（大学院・JSET 2026）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MORUNE では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577840" cy="84124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301752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手がかりは小さく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219456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最小限の手がかり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249424"/>
            <a:ext cx="457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103120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103120"/>
            <a:ext cx="457200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願いは12字だけ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90672"/>
            <a:ext cx="5577840" cy="84124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90672"/>
            <a:ext cx="301752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仕組みは軽く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090672"/>
            <a:ext cx="219456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軽量な設計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236976"/>
            <a:ext cx="457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090672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090672"/>
            <a:ext cx="457200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預けるだけ。期限も通知もない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78224"/>
            <a:ext cx="5577840" cy="84124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78224"/>
            <a:ext cx="301752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迷ったままでいい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078224"/>
            <a:ext cx="219456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両義性の前提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224528"/>
            <a:ext cx="457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4078224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4078224"/>
            <a:ext cx="457200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受け取る／もう少し預ける／手放す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65776"/>
            <a:ext cx="5577840" cy="84124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301752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人とのつながりの中で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065776"/>
            <a:ext cx="219456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関係性の中での支援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5212080"/>
            <a:ext cx="457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5065776"/>
            <a:ext cx="4983480" cy="84124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5065776"/>
            <a:ext cx="4572000" cy="8412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みんなの星空・支援の場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AA3B5"/>
                </a:solidFill>
                <a:latin typeface="游明朝 Demibold"/>
                <a:ea typeface="游明朝 Demibold"/>
                <a:cs typeface="游明朝 Demibold"/>
              </a:rPr>
              <a:t>急かさない。比べない。晒さない。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04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Metaphor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消えた願いではなく、遠い星に預けたもの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109960" cy="182880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4241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「高い塔を建てなければ、新たな水平線は見えてこない」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4241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川口淳一郎（はやぶさ プロジェクトマネージャー）　前職の編集部で取材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77639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4572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はやぶさ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4754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7年かけて、小惑星 25143 イトカワから
カプセルを持ち帰った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4709160"/>
            <a:ext cx="457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3977639"/>
            <a:ext cx="5303520" cy="201168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19" y="4160520"/>
            <a:ext cx="4572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MORUNE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9" y="4800600"/>
            <a:ext cx="4754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いったん手放した「いつかやりたいこと」を
星に預け、願いの方から一つずつ帰ってくる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作品名の 25143 は、イトカワの小惑星番号から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05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デモ：預けて、待って、呼び戻す</a:t>
            </a:r>
          </a:p>
        </p:txBody>
      </p:sp>
      <p:pic>
        <p:nvPicPr>
          <p:cNvPr id="4" name="demo-16x9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63040" y="1417320"/>
            <a:ext cx="9235440" cy="5193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6537960"/>
            <a:ext cx="9235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▶ クリックで再生・2分02秒（このPCの中だけのデータで撮影。見本の願い入り）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06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AI に書かせ、何を作るかは自分で決め、数で確かめた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作ってから、やめたもの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65176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AI で願いの絵をつくる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148840"/>
            <a:ext cx="23774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願いのイメージとずれた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65176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星座の線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926080"/>
            <a:ext cx="23774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意味が伝わらなかった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265176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応援の信号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703320"/>
            <a:ext cx="23774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シェアとの違いが伝わらなかった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5303520" cy="658368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265176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「帰す」ボタン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480560"/>
            <a:ext cx="2377440" cy="65836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触れれば帰る形にした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53035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本物の星空：5,080個の星を時刻と場所から計算
自動テスト 238件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数で確かめてから決めた（シミュレーション）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星が重なる日（1年あたり、まとめて預ける人）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40"/>
            <a:ext cx="4572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679192"/>
            <a:ext cx="3819436" cy="237744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68876" y="2606040"/>
            <a:ext cx="14630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363日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4572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136392"/>
            <a:ext cx="45720" cy="237744"/>
          </a:xfrm>
          <a:prstGeom prst="rect">
            <a:avLst/>
          </a:prstGeom>
          <a:solidFill>
            <a:srgbClr val="E2B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59" y="3063240"/>
            <a:ext cx="14630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2EEE6"/>
                </a:solidFill>
                <a:latin typeface="メイリオ"/>
                <a:ea typeface="メイリオ"/>
                <a:cs typeface="メイリオ"/>
              </a:rPr>
              <a:t>同じ願いが続けて帰る確率（候補が2つのとき）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23360"/>
            <a:ext cx="4572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096512"/>
            <a:ext cx="1920240" cy="237744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4023360"/>
            <a:ext cx="14630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80560"/>
            <a:ext cx="4572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4553712"/>
            <a:ext cx="45720" cy="237744"/>
          </a:xfrm>
          <a:prstGeom prst="rect">
            <a:avLst/>
          </a:prstGeom>
          <a:solidFill>
            <a:srgbClr val="E2B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59" y="4480560"/>
            <a:ext cx="14630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029200"/>
            <a:ext cx="5303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旧：番号で星の場所を決め、上限30個
今：空いている席に置き、上限19個（北の星座3つの星の数）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07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展示で出会い、紙で持ち帰り、アプリで続く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291840" cy="242316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6596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展示・支援の場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06040"/>
            <a:ext cx="27432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科学館・宇宙イベント
キャリア・復職の支援の場
QR から預ける
帰還票をその場で印刷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58768" y="2697480"/>
            <a:ext cx="457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291840" cy="242316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6596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紙と物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06040"/>
            <a:ext cx="27432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帰還票・ブレスレット
最初の一歩が目に入る
QR から自分の星へ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2697480"/>
            <a:ext cx="4572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783080"/>
            <a:ext cx="3291840" cy="242316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965960"/>
            <a:ext cx="27432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E2B867"/>
                </a:solidFill>
                <a:latin typeface="游明朝 Demibold"/>
                <a:ea typeface="游明朝 Demibold"/>
                <a:cs typeface="游明朝 Demibold"/>
              </a:rPr>
              <a:t>アプリ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606040"/>
            <a:ext cx="27432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やりたくなったら
星に触れて呼び戻す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個人からは取らない。場と物で成り立たせる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2064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場への導入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科学館・自治体・支援の場に
体験一式を期間で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0292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512064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持ち帰る物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553212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カプセル（ブレスレット）・帰還票の台紙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0292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5120640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共創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53212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アーティストと、帰還票の絵柄・会場の演出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E2B867"/>
                </a:solidFill>
                <a:latin typeface="メイリオ"/>
                <a:ea typeface="メイリオ"/>
                <a:cs typeface="メイリオ"/>
              </a:rPr>
              <a:t>08  </a:t>
            </a: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やりたかったことを、置き去りにしない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7498079" cy="804672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 w="15875">
            <a:solidFill>
              <a:srgbClr val="E2B8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10312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展示する場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783080"/>
            <a:ext cx="493776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まず1回。科学館・プラネタリウム・自治体のイベント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15768"/>
            <a:ext cx="7498079" cy="804672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15768"/>
            <a:ext cx="210312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支える場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15768"/>
            <a:ext cx="493776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次に。キャリアや復職を支える人事・支援者のもとで試す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48456"/>
            <a:ext cx="7498079" cy="804672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48456"/>
            <a:ext cx="210312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実装の仲間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648456"/>
            <a:ext cx="493776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この企画を、実装面でサポートいただけるエンジニア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81144"/>
            <a:ext cx="7498079" cy="804672"/>
          </a:xfrm>
          <a:prstGeom prst="roundRect">
            <a:avLst>
              <a:gd name="adj" fmla="val 8000"/>
            </a:avLst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81144"/>
            <a:ext cx="210312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F2EEE6"/>
                </a:solidFill>
                <a:latin typeface="游明朝 Demibold"/>
                <a:ea typeface="游明朝 Demibold"/>
                <a:cs typeface="游明朝 Demibold"/>
              </a:rPr>
              <a:t>つくる方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581144"/>
            <a:ext cx="4937760" cy="8046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星空や帰還票の絵柄・映像を一緒に描くアーティスト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749807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AA3B5"/>
                </a:solidFill>
                <a:latin typeface="メイリオ"/>
                <a:ea typeface="メイリオ"/>
                <a:cs typeface="メイリオ"/>
              </a:rPr>
              <a:t>わかっていること：公開2日で、端末12台ほどが願いを預けた（人数ではない）。
これから展示と支援の場で、持ち帰った人と、また開いた人を数える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1783080"/>
            <a:ext cx="31089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-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965960"/>
            <a:ext cx="2651760" cy="2651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95360" y="470916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B1020"/>
                </a:solidFill>
                <a:latin typeface="メイリオ"/>
                <a:ea typeface="メイリオ"/>
                <a:cs typeface="メイリオ"/>
              </a:rPr>
              <a:t>いま、ひとつ預けられます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0B1020"/>
                </a:solidFill>
                <a:latin typeface="メイリオ"/>
                <a:ea typeface="メイリオ"/>
                <a:cs typeface="メイリオ"/>
              </a:rPr>
              <a:t>morune-25143.morune-25143.workers.dev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